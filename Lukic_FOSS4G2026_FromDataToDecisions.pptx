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67"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Weight</c:v>
                </c:pt>
              </c:strCache>
            </c:strRef>
          </c:tx>
          <c:spPr>
            <a:solidFill>
              <a:srgbClr val="02C39A"/>
            </a:solidFill>
            <a:effectLst/>
          </c:spPr>
          <c:invertIfNegative val="0"/>
          <c:dPt>
            <c:idx val="0"/>
            <c:invertIfNegative val="0"/>
            <c:bubble3D val="0"/>
            <c:extLst>
              <c:ext xmlns:c16="http://schemas.microsoft.com/office/drawing/2014/chart" uri="{C3380CC4-5D6E-409C-BE32-E72D297353CC}">
                <c16:uniqueId val="{00000001-BEFC-4254-9B7B-FD50EAFD110B}"/>
              </c:ext>
            </c:extLst>
          </c:dPt>
          <c:dPt>
            <c:idx val="1"/>
            <c:invertIfNegative val="0"/>
            <c:bubble3D val="0"/>
            <c:spPr>
              <a:solidFill>
                <a:srgbClr val="1C7293"/>
              </a:solidFill>
              <a:effectLst/>
            </c:spPr>
            <c:extLst>
              <c:ext xmlns:c16="http://schemas.microsoft.com/office/drawing/2014/chart" uri="{C3380CC4-5D6E-409C-BE32-E72D297353CC}">
                <c16:uniqueId val="{00000003-BEFC-4254-9B7B-FD50EAFD110B}"/>
              </c:ext>
            </c:extLst>
          </c:dPt>
          <c:dPt>
            <c:idx val="2"/>
            <c:invertIfNegative val="0"/>
            <c:bubble3D val="0"/>
            <c:spPr>
              <a:solidFill>
                <a:srgbClr val="065A82"/>
              </a:solidFill>
              <a:effectLst/>
            </c:spPr>
            <c:extLst>
              <c:ext xmlns:c16="http://schemas.microsoft.com/office/drawing/2014/chart" uri="{C3380CC4-5D6E-409C-BE32-E72D297353CC}">
                <c16:uniqueId val="{00000005-BEFC-4254-9B7B-FD50EAFD110B}"/>
              </c:ext>
            </c:extLst>
          </c:dPt>
          <c:dPt>
            <c:idx val="3"/>
            <c:invertIfNegative val="0"/>
            <c:bubble3D val="0"/>
            <c:spPr>
              <a:solidFill>
                <a:srgbClr val="21295C"/>
              </a:solidFill>
              <a:effectLst/>
            </c:spPr>
            <c:extLst>
              <c:ext xmlns:c16="http://schemas.microsoft.com/office/drawing/2014/chart" uri="{C3380CC4-5D6E-409C-BE32-E72D297353CC}">
                <c16:uniqueId val="{00000007-BEFC-4254-9B7B-FD50EAFD110B}"/>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Regulatory Risk</c:v>
                </c:pt>
                <c:pt idx="1">
                  <c:v>Total Pollution Load</c:v>
                </c:pt>
                <c:pt idx="2">
                  <c:v>Trend Over Time</c:v>
                </c:pt>
                <c:pt idx="3">
                  <c:v>Bioavailability</c:v>
                </c:pt>
              </c:strCache>
            </c:strRef>
          </c:cat>
          <c:val>
            <c:numRef>
              <c:f>Sheet1!$B$2:$B$5</c:f>
              <c:numCache>
                <c:formatCode>General</c:formatCode>
                <c:ptCount val="4"/>
                <c:pt idx="0">
                  <c:v>0.49099999999999999</c:v>
                </c:pt>
                <c:pt idx="1">
                  <c:v>0.29399999999999998</c:v>
                </c:pt>
                <c:pt idx="2">
                  <c:v>0.14000000000000001</c:v>
                </c:pt>
                <c:pt idx="3">
                  <c:v>7.4999999999999997E-2</c:v>
                </c:pt>
              </c:numCache>
            </c:numRef>
          </c:val>
          <c:extLst>
            <c:ext xmlns:c16="http://schemas.microsoft.com/office/drawing/2014/chart" uri="{C3380CC4-5D6E-409C-BE32-E72D297353CC}">
              <c16:uniqueId val="{00000008-BEFC-4254-9B7B-FD50EAFD110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8F4F8"/>
                </a:solidFill>
                <a:latin typeface="Arial"/>
              </a:defRPr>
            </a:pPr>
            <a:endParaRPr lang="en-US"/>
          </a:p>
        </c:txPr>
        <c:crossAx val="2094734552"/>
        <c:crosses val="autoZero"/>
        <c:auto val="1"/>
        <c:lblAlgn val="ctr"/>
        <c:lblOffset val="100"/>
        <c:noMultiLvlLbl val="1"/>
      </c:catAx>
      <c:valAx>
        <c:axId val="2094734552"/>
        <c:scaling>
          <c:orientation val="minMax"/>
          <c:max val="0.6"/>
          <c:min val="0"/>
        </c:scaling>
        <c:delete val="0"/>
        <c:axPos val="b"/>
        <c:majorGridlines>
          <c:spPr>
            <a:ln w="6350" cap="flat">
              <a:solidFill>
                <a:srgbClr val="1C729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E8F4F8"/>
                </a:solidFill>
                <a:latin typeface="Arial"/>
              </a:defRPr>
            </a:pPr>
            <a:endParaRPr lang="en-US"/>
          </a:p>
        </c:txPr>
        <c:crossAx val="2094734554"/>
        <c:crosses val="autoZero"/>
        <c:crossBetween val="between"/>
      </c:valAx>
      <c:spPr>
        <a:solidFill>
          <a:srgbClr val="21295C"/>
        </a:solidFill>
        <a:ln>
          <a:noFill/>
        </a:ln>
        <a:effectLst/>
      </c:spPr>
    </c:plotArea>
    <c:plotVisOnly val="1"/>
    <c:dispBlanksAs val="span"/>
    <c:showDLblsOverMax val="1"/>
  </c:chart>
  <c:spPr>
    <a:solidFill>
      <a:srgbClr val="21295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579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Jelena Lukić. I am an Environmental Scientist at the City Institute of Public Health in Belgrade and an independent GIS Analyst.
Today, I will show you how GIS, multi-criteria analysis, and spatial statistics can help transform routine surface water monitoring data into actionable environmental intelligence.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 quality monitoring generates a huge amount of data every year.
In Serbia, we have dozens of monitoring stations, and similar programs exist across Europe.
The problem is that traditional monitoring mainly checks compliance. To be precise, did a station exceed a limit or not?
But environmental risk is not that simple. Pollution doesn't happen in isolation. It varies across space, changes over time, and is influenced by different factors.
So we end up with a lot of data, but not a clear picture of where risk is actually concentrated.
Environmental monitoring tells us what is happening. GIS helps us understand where and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study, data from 54 monitoring stations across Serbia was used, covering the period from 2019 to 2023.
The stations cover eight major river systems.
Three heavy metals were analyzed: cadmium, lead, and nickel.
These metals were selected because they are priority pollutants under both Serbian and European legislation. They are routinely monitored across the national network and represent different types of environmental pressures.
Despite these differences, they share several important characteristics: they are persistent, toxic, and can accumulate in aquatic ecosystems.
Because of these properties, they represent an important environmental concern.
However, knowing the concentration of a pollutant is only part of the story.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has five steps. Starting from raw monitoring data, four risk indexes were calculated, AHP weighting was applied, everything was combined into one risk map, and finally spatial clustering analysis was performed.
Each step builds on the previous one, moving from raw numbers to a structured understanding of risk.
The result is not just a list of polluted stations. It is a framework for understanding environmental risk as a spatial phenomenon.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 single indicator can capture environmental risk. That is why I combined four complementary dimensions.</a:t>
            </a:r>
          </a:p>
          <a:p>
            <a:r>
              <a:rPr lang="en-GB" dirty="0"/>
              <a:t>The first is Total Pollution Load -it answers the question: how much pollution is there overall?</a:t>
            </a:r>
          </a:p>
          <a:p>
            <a:r>
              <a:rPr lang="en-GB" dirty="0"/>
              <a:t>The second is Bioavailability how dangerous is it actually to living things?</a:t>
            </a:r>
          </a:p>
          <a:p>
            <a:r>
              <a:rPr lang="en-GB" dirty="0"/>
              <a:t>The third is Trend Over Time — is it getting better or worse?</a:t>
            </a:r>
          </a:p>
          <a:p>
            <a:r>
              <a:rPr lang="en-GB" dirty="0"/>
              <a:t>And the fourth is Regulatory Risk —  how often are legal limits broken? </a:t>
            </a:r>
          </a:p>
          <a:p>
            <a:r>
              <a:rPr lang="en-GB" dirty="0"/>
              <a:t>Each one answers a different question. Together, they give a complete picture that no single measurement could provide.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AHP was used to assign weights to the four indexes based on their relative importance. Regulatory risk carries the most weight at 49%, because breaking legal limits is what triggers real-world action.
AHP also includes a built-in consistency check. The Consistency Ratio was 0.022, well below the 0.10 threshold. This confirms the weights are logical and valid.
The final Integrated Risk Index is calculated as a weighted sum of all four indexes, combining pollution load, bioavailability, trend, and regulatory risk into one score for each station.
But before showing the final map, let's look at each index individually.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Pollution is not spread evenly across Serbia. It is concentrated in a small number of locations — Srbovo, Bujanovac, Novi Sad (gornja voda), Markovićevo, Bačko Gradište — while most of the network is actually in good condition.
Most stations are clean. Just a few carry almost all the pollution.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Ecological risk does not always follow total concentration.</a:t>
            </a:r>
          </a:p>
          <a:p>
            <a:endParaRPr lang="en-GB" dirty="0"/>
          </a:p>
          <a:p>
            <a:r>
              <a:rPr lang="en-GB" dirty="0"/>
              <a:t>Smederevo has the least </a:t>
            </a:r>
            <a:r>
              <a:rPr lang="en-GB" dirty="0" err="1"/>
              <a:t>favorable</a:t>
            </a:r>
            <a:r>
              <a:rPr lang="en-GB" dirty="0"/>
              <a:t> class — not because of high total metal concentrations, but because the metals there are present in dissolved forms that living organisms can actually absorb.</a:t>
            </a:r>
          </a:p>
          <a:p>
            <a:endParaRPr lang="en-GB" dirty="0"/>
          </a:p>
          <a:p>
            <a:r>
              <a:rPr lang="en-GB" dirty="0"/>
              <a:t>A station can look moderate on the previous map and be the most ecologically relevant one on this map. That is exactly why this index matters.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the most important locations are not the most polluted ones. They are the ones getting worse.
Kraljevo (Ibar), Mojsinje, and Raska (Ibar) show the strongest worsening between 2019 and 2023.
And the most surprising finding: Srbovo, the most polluted station in the network, is the only one showing a clearly improving trend. Risk and trend can move in completely opposite directions.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Compliance pressure is the dominant driver of overall risk, and this map shows why.
Srbovo scores 1.0, the maximum. Legal limits were broken in almost every measurement cycle over five years.
Srbovo and Bačko Gradište are both at the top of this ranking, but through completely different mechanisms. Mining on the Timok in one case. Nickel from the canal network in Vojvodina in the other. Same score, very different problem.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result of the whole analysis. The final combined risk map.
A single map that combines pollution load, ecological relevance, temporal behavior, and regulatory pressure.
Most of Serbia appears low-risk. But a small number of locations clearly emerge as priority areas, and each one got there for a different reason.
That is something no single index could have shown.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map shows what happens when we look at districts instead of individual stations.</a:t>
            </a:r>
          </a:p>
          <a:p>
            <a:r>
              <a:rPr lang="en-GB" dirty="0"/>
              <a:t>Most districts look moderate or low risk, which is manageable.</a:t>
            </a:r>
          </a:p>
          <a:p>
            <a:r>
              <a:rPr lang="en-GB" dirty="0"/>
              <a:t>But look at Borski district. The district average falls in the moderated risk category. And yet </a:t>
            </a:r>
            <a:r>
              <a:rPr lang="en-GB" dirty="0" err="1"/>
              <a:t>Srbovo</a:t>
            </a:r>
            <a:r>
              <a:rPr lang="en-GB" dirty="0"/>
              <a:t>, which sits inside that district, has the highest Integrated Risk Index in the whole country.</a:t>
            </a:r>
          </a:p>
          <a:p>
            <a:r>
              <a:rPr lang="en-GB" dirty="0"/>
              <a:t>The average has completely erased the station with the highest integrated risk in the network.</a:t>
            </a:r>
          </a:p>
          <a:p>
            <a:r>
              <a:rPr lang="en-GB" dirty="0"/>
              <a:t>This is why we must be very careful when interpreting results based on average values.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map shows whether monitoring stations with similar risk levels tend to group together or are spread out randomly.</a:t>
            </a:r>
          </a:p>
          <a:p>
            <a:r>
              <a:rPr lang="en-GB" dirty="0"/>
              <a:t>Quick note, a Cold Spot means high-risk monitoring locations grouped together. A Hot Spot means low risk grouped together.</a:t>
            </a:r>
          </a:p>
          <a:p>
            <a:r>
              <a:rPr lang="en-GB" dirty="0"/>
              <a:t>Seven stations form a Cold Spot — a high-risk cluster driven by shared agricultural and industrial pressure. A regional problem that needs a regional response.</a:t>
            </a:r>
          </a:p>
          <a:p>
            <a:r>
              <a:rPr lang="en-GB" dirty="0"/>
              <a:t>Five stations form a Hot Spot — the cleanest cluster in the network. Important reference points.</a:t>
            </a:r>
          </a:p>
          <a:p>
            <a:r>
              <a:rPr lang="en-GB" dirty="0"/>
              <a:t>And then there is </a:t>
            </a:r>
            <a:r>
              <a:rPr lang="en-GB" dirty="0" err="1"/>
              <a:t>Srbovo</a:t>
            </a:r>
            <a:r>
              <a:rPr lang="en-GB" dirty="0"/>
              <a:t> again. The highest integrated risk in the country, but completely isolated. No cluster around it. A local problem that needs a completely different response than the Cold spot cluster.</a:t>
            </a:r>
          </a:p>
          <a:p>
            <a:r>
              <a:rPr lang="en-GB" dirty="0"/>
              <a:t>Not all high-risk locations require the same response. Some are regional problems. Others are local problems. </a:t>
            </a:r>
            <a:r>
              <a:rPr lang="en-GB" dirty="0" err="1"/>
              <a:t>Getis</a:t>
            </a:r>
            <a:r>
              <a:rPr lang="en-GB" dirty="0"/>
              <a:t>-Ord Gi* is what tells us the difference.</a:t>
            </a:r>
          </a:p>
          <a:p>
            <a:r>
              <a:rPr lang="en-GB" dirty="0"/>
              <a:t>77.8% of stations show no significant spatial clustering at all. Each one needs to be understood on its own terms.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AHP and Getis-Ord Gi* answer two different questions.
AHP tells us how risky a location is, on its own.
Getis-Ord Gi* tells us whether that risk forms a spatial pattern. Whether a location is part of a wider cluster, or stands alone.
Together, they tell us not just where risk is high, but what kind of problem it is and what kind of response it needs.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concluding, a few words about the scope of this work.
The monitoring network covers urban and industrial zones more than rural areas. Five years is not enough for long-term patterns. Only three metals were included, and the AHP weights are expert-based.
But these constraints do not invalidate the framework. They define its scope and give a clear roadmap for the future.
Future directions include expanding spatial coverage, extending the time series, including more pollutant groups, and exploring machine learning for prediction at unmonitored locations.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Everything you have seen today was done with open-source tools, entirely in QGIS.
This means the workflow is transparent. Every step is visible. 
It is reproducible. Anyone can take this workflow and run it themselves.
And it is adaptable. The same framework can be applied to other regions and other pollutants.
Open-source GIS is not just a practical choice. It is a commitment to open, verifiable, and accessible science.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monitoring tells us what is happening.
Spatial analysis tells us where it matters.
And when we combine the two, we move beyond reporting environmental problems and begin to understand their spatial structure.
That understanding is essential for effective environmental management.
And that, ultimately, is the value of GIS.
Thank you very much. 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1C7293">
              <a:alpha val="28000"/>
            </a:srgbClr>
          </a:solidFill>
          <a:ln w="12700">
            <a:solidFill>
              <a:srgbClr val="1C7293"/>
            </a:solidFill>
            <a:prstDash val="solid"/>
          </a:ln>
        </p:spPr>
        <p:txBody>
          <a:bodyPr/>
          <a:lstStyle/>
          <a:p>
            <a:endParaRPr lang="en-GB"/>
          </a:p>
        </p:txBody>
      </p:sp>
      <p:sp>
        <p:nvSpPr>
          <p:cNvPr id="3" name="Shape 1"/>
          <p:cNvSpPr/>
          <p:nvPr/>
        </p:nvSpPr>
        <p:spPr>
          <a:xfrm>
            <a:off x="7863840" y="-274320"/>
            <a:ext cx="2560320" cy="2560320"/>
          </a:xfrm>
          <a:prstGeom prst="ellipse">
            <a:avLst/>
          </a:prstGeom>
          <a:solidFill>
            <a:srgbClr val="02C39A">
              <a:alpha val="22000"/>
            </a:srgbClr>
          </a:solidFill>
          <a:ln w="12700">
            <a:solidFill>
              <a:srgbClr val="02C39A"/>
            </a:solidFill>
            <a:prstDash val="solid"/>
          </a:ln>
        </p:spPr>
        <p:txBody>
          <a:bodyPr/>
          <a:lstStyle/>
          <a:p>
            <a:endParaRPr lang="en-GB"/>
          </a:p>
        </p:txBody>
      </p:sp>
      <p:sp>
        <p:nvSpPr>
          <p:cNvPr id="4" name="Shape 2"/>
          <p:cNvSpPr/>
          <p:nvPr/>
        </p:nvSpPr>
        <p:spPr>
          <a:xfrm>
            <a:off x="457200" y="384048"/>
            <a:ext cx="2377440" cy="384048"/>
          </a:xfrm>
          <a:prstGeom prst="roundRect">
            <a:avLst>
              <a:gd name="adj" fmla="val 14286"/>
            </a:avLst>
          </a:prstGeom>
          <a:solidFill>
            <a:srgbClr val="02C39A"/>
          </a:solidFill>
          <a:ln/>
        </p:spPr>
        <p:txBody>
          <a:bodyPr/>
          <a:lstStyle/>
          <a:p>
            <a:endParaRPr lang="en-GB"/>
          </a:p>
        </p:txBody>
      </p:sp>
      <p:sp>
        <p:nvSpPr>
          <p:cNvPr id="5" name="Text 3"/>
          <p:cNvSpPr/>
          <p:nvPr/>
        </p:nvSpPr>
        <p:spPr>
          <a:xfrm>
            <a:off x="457200" y="384048"/>
            <a:ext cx="2377440" cy="384048"/>
          </a:xfrm>
          <a:prstGeom prst="rect">
            <a:avLst/>
          </a:prstGeom>
          <a:noFill/>
          <a:ln/>
        </p:spPr>
        <p:txBody>
          <a:bodyPr wrap="square" lIns="0" tIns="0" rIns="0" bIns="0" rtlCol="0" anchor="ctr"/>
          <a:lstStyle/>
          <a:p>
            <a:pPr marL="0" indent="0" algn="ctr">
              <a:buNone/>
            </a:pPr>
            <a:r>
              <a:rPr lang="en-US" sz="1200" b="1" dirty="0">
                <a:solidFill>
                  <a:srgbClr val="21295C"/>
                </a:solidFill>
              </a:rPr>
              <a:t>FOSS4GIS 2026</a:t>
            </a:r>
            <a:endParaRPr lang="en-US" sz="1200" dirty="0"/>
          </a:p>
        </p:txBody>
      </p:sp>
      <p:sp>
        <p:nvSpPr>
          <p:cNvPr id="6" name="Text 4"/>
          <p:cNvSpPr/>
          <p:nvPr/>
        </p:nvSpPr>
        <p:spPr>
          <a:xfrm>
            <a:off x="457200" y="914400"/>
            <a:ext cx="7772400" cy="2514600"/>
          </a:xfrm>
          <a:prstGeom prst="rect">
            <a:avLst/>
          </a:prstGeom>
          <a:noFill/>
          <a:ln/>
        </p:spPr>
        <p:txBody>
          <a:bodyPr wrap="square"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Spatial Risk Assessment</a:t>
            </a:r>
            <a:endParaRPr lang="en-US" sz="3800" dirty="0"/>
          </a:p>
          <a:p>
            <a:pPr marL="0" indent="0" algn="l">
              <a:buNone/>
            </a:pPr>
            <a:r>
              <a:rPr lang="en-US" sz="3800" b="1" dirty="0">
                <a:solidFill>
                  <a:srgbClr val="FFFFFF"/>
                </a:solidFill>
                <a:latin typeface="Cambria" pitchFamily="34" charset="0"/>
                <a:ea typeface="Cambria" pitchFamily="34" charset="-122"/>
                <a:cs typeface="Cambria" pitchFamily="34" charset="-120"/>
              </a:rPr>
              <a:t>of Heavy Metal Pollution</a:t>
            </a:r>
            <a:endParaRPr lang="en-US" sz="3800" dirty="0"/>
          </a:p>
          <a:p>
            <a:pPr marL="0" indent="0" algn="l">
              <a:buNone/>
            </a:pPr>
            <a:r>
              <a:rPr lang="en-US" sz="3800" b="1" dirty="0">
                <a:solidFill>
                  <a:srgbClr val="FFFFFF"/>
                </a:solidFill>
                <a:latin typeface="Cambria" pitchFamily="34" charset="0"/>
                <a:ea typeface="Cambria" pitchFamily="34" charset="-122"/>
                <a:cs typeface="Cambria" pitchFamily="34" charset="-120"/>
              </a:rPr>
              <a:t>in Serbian Surface Waters</a:t>
            </a:r>
            <a:endParaRPr lang="en-US" sz="3800" dirty="0"/>
          </a:p>
        </p:txBody>
      </p:sp>
      <p:sp>
        <p:nvSpPr>
          <p:cNvPr id="7" name="Text 5"/>
          <p:cNvSpPr/>
          <p:nvPr/>
        </p:nvSpPr>
        <p:spPr>
          <a:xfrm>
            <a:off x="457200" y="3493008"/>
            <a:ext cx="8046720" cy="402336"/>
          </a:xfrm>
          <a:prstGeom prst="rect">
            <a:avLst/>
          </a:prstGeom>
          <a:noFill/>
          <a:ln/>
        </p:spPr>
        <p:txBody>
          <a:bodyPr wrap="square"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GIS  ·  Multi-Criteria Decision Analysis  ·  Spatial Statistics  ·  QGIS</a:t>
            </a:r>
            <a:endParaRPr lang="en-US" sz="1300" dirty="0"/>
          </a:p>
        </p:txBody>
      </p:sp>
      <p:sp>
        <p:nvSpPr>
          <p:cNvPr id="8" name="Shape 6"/>
          <p:cNvSpPr/>
          <p:nvPr/>
        </p:nvSpPr>
        <p:spPr>
          <a:xfrm>
            <a:off x="457200" y="4005072"/>
            <a:ext cx="5669280" cy="777240"/>
          </a:xfrm>
          <a:prstGeom prst="roundRect">
            <a:avLst>
              <a:gd name="adj" fmla="val 8235"/>
            </a:avLst>
          </a:prstGeom>
          <a:solidFill>
            <a:srgbClr val="1C7293">
              <a:alpha val="45000"/>
            </a:srgbClr>
          </a:solidFill>
          <a:ln/>
        </p:spPr>
        <p:txBody>
          <a:bodyPr/>
          <a:lstStyle/>
          <a:p>
            <a:endParaRPr lang="en-GB"/>
          </a:p>
        </p:txBody>
      </p:sp>
      <p:sp>
        <p:nvSpPr>
          <p:cNvPr id="9" name="Text 7"/>
          <p:cNvSpPr/>
          <p:nvPr/>
        </p:nvSpPr>
        <p:spPr>
          <a:xfrm>
            <a:off x="594360" y="4059936"/>
            <a:ext cx="5394960" cy="310896"/>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Jelena Lukić</a:t>
            </a:r>
            <a:endParaRPr lang="en-US" sz="1500" dirty="0"/>
          </a:p>
        </p:txBody>
      </p:sp>
      <p:sp>
        <p:nvSpPr>
          <p:cNvPr id="10" name="Text 8"/>
          <p:cNvSpPr/>
          <p:nvPr/>
        </p:nvSpPr>
        <p:spPr>
          <a:xfrm>
            <a:off x="594360" y="4370832"/>
            <a:ext cx="5394960" cy="320040"/>
          </a:xfrm>
          <a:prstGeom prst="rect">
            <a:avLst/>
          </a:prstGeom>
          <a:noFill/>
          <a:ln/>
        </p:spPr>
        <p:txBody>
          <a:bodyPr wrap="square" rtlCol="0" anchor="ctr"/>
          <a:lstStyle/>
          <a:p>
            <a:pPr marL="0" indent="0">
              <a:buNone/>
            </a:pPr>
            <a:r>
              <a:rPr lang="en-US" sz="1050" dirty="0">
                <a:solidFill>
                  <a:srgbClr val="E8F4F8"/>
                </a:solidFill>
                <a:latin typeface="Calibri" pitchFamily="34" charset="0"/>
                <a:ea typeface="Calibri" pitchFamily="34" charset="-122"/>
                <a:cs typeface="Calibri" pitchFamily="34" charset="-120"/>
              </a:rPr>
              <a:t>Environmental Scientist  |  Independent GIS Analyst  ·  City Institute of Public Health, Belgrade</a:t>
            </a:r>
            <a:endParaRPr lang="en-US" sz="1050" dirty="0"/>
          </a:p>
        </p:txBody>
      </p:sp>
      <p:sp>
        <p:nvSpPr>
          <p:cNvPr id="11" name="Shape 9"/>
          <p:cNvSpPr/>
          <p:nvPr/>
        </p:nvSpPr>
        <p:spPr>
          <a:xfrm>
            <a:off x="457200" y="4864608"/>
            <a:ext cx="3657600" cy="45720"/>
          </a:xfrm>
          <a:prstGeom prst="rect">
            <a:avLst/>
          </a:prstGeom>
          <a:solidFill>
            <a:srgbClr val="02C39A"/>
          </a:solidFill>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BFD"/>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94360"/>
          </a:xfrm>
          <a:prstGeom prst="rect">
            <a:avLst/>
          </a:prstGeom>
          <a:noFill/>
          <a:ln/>
        </p:spPr>
        <p:txBody>
          <a:bodyPr wrap="square" rtlCol="0" anchor="ctr"/>
          <a:lstStyle/>
          <a:p>
            <a:pPr marL="0" indent="0">
              <a:buNone/>
            </a:pPr>
            <a:r>
              <a:rPr lang="en-US" sz="3400" b="1" dirty="0">
                <a:solidFill>
                  <a:srgbClr val="21295C"/>
                </a:solidFill>
                <a:latin typeface="Cambria" pitchFamily="34" charset="0"/>
                <a:ea typeface="Cambria" pitchFamily="34" charset="-122"/>
                <a:cs typeface="Cambria" pitchFamily="34" charset="-120"/>
              </a:rPr>
              <a:t>Why This Matters</a:t>
            </a:r>
            <a:endParaRPr lang="en-US" sz="3400" dirty="0"/>
          </a:p>
        </p:txBody>
      </p:sp>
      <p:sp>
        <p:nvSpPr>
          <p:cNvPr id="3" name="Shape 1"/>
          <p:cNvSpPr/>
          <p:nvPr/>
        </p:nvSpPr>
        <p:spPr>
          <a:xfrm>
            <a:off x="347472" y="1005840"/>
            <a:ext cx="2651760" cy="3703320"/>
          </a:xfrm>
          <a:prstGeom prst="roundRect">
            <a:avLst>
              <a:gd name="adj" fmla="val 3448"/>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4" name="Shape 2"/>
          <p:cNvSpPr/>
          <p:nvPr/>
        </p:nvSpPr>
        <p:spPr>
          <a:xfrm>
            <a:off x="1307592" y="1170432"/>
            <a:ext cx="749808" cy="749808"/>
          </a:xfrm>
          <a:prstGeom prst="ellipse">
            <a:avLst/>
          </a:prstGeom>
          <a:solidFill>
            <a:srgbClr val="1C7293"/>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1399032" y="1261872"/>
            <a:ext cx="566928" cy="566928"/>
          </a:xfrm>
          <a:prstGeom prst="rect">
            <a:avLst/>
          </a:prstGeom>
        </p:spPr>
      </p:pic>
      <p:sp>
        <p:nvSpPr>
          <p:cNvPr id="6" name="Text 3"/>
          <p:cNvSpPr/>
          <p:nvPr/>
        </p:nvSpPr>
        <p:spPr>
          <a:xfrm>
            <a:off x="475488" y="2075688"/>
            <a:ext cx="2395728" cy="594360"/>
          </a:xfrm>
          <a:prstGeom prst="rect">
            <a:avLst/>
          </a:prstGeom>
          <a:noFill/>
          <a:ln/>
        </p:spPr>
        <p:txBody>
          <a:bodyPr wrap="square" rtlCol="0" anchor="ctr"/>
          <a:lstStyle/>
          <a:p>
            <a:pPr marL="0" indent="0" algn="ctr">
              <a:buNone/>
            </a:pPr>
            <a:r>
              <a:rPr lang="en-US" sz="1300" b="1" dirty="0">
                <a:solidFill>
                  <a:srgbClr val="21295C"/>
                </a:solidFill>
                <a:latin typeface="Cambria" pitchFamily="34" charset="0"/>
                <a:ea typeface="Cambria" pitchFamily="34" charset="-122"/>
                <a:cs typeface="Cambria" pitchFamily="34" charset="-120"/>
              </a:rPr>
              <a:t>More data, not more answers</a:t>
            </a:r>
            <a:endParaRPr lang="en-US" sz="1300" dirty="0"/>
          </a:p>
        </p:txBody>
      </p:sp>
      <p:sp>
        <p:nvSpPr>
          <p:cNvPr id="7" name="Text 4"/>
          <p:cNvSpPr/>
          <p:nvPr/>
        </p:nvSpPr>
        <p:spPr>
          <a:xfrm>
            <a:off x="475488" y="2743200"/>
            <a:ext cx="2395728" cy="1783080"/>
          </a:xfrm>
          <a:prstGeom prst="rect">
            <a:avLst/>
          </a:prstGeom>
          <a:noFill/>
          <a:ln/>
        </p:spPr>
        <p:txBody>
          <a:bodyPr wrap="square" rtlCol="0" anchor="ctr"/>
          <a:lstStyle/>
          <a:p>
            <a:pPr marL="0" indent="0" algn="ctr">
              <a:buNone/>
            </a:pPr>
            <a:r>
              <a:rPr lang="en-US" sz="1150" dirty="0">
                <a:solidFill>
                  <a:srgbClr val="5B7A8A"/>
                </a:solidFill>
                <a:latin typeface="Calibri" pitchFamily="34" charset="0"/>
                <a:ea typeface="Calibri" pitchFamily="34" charset="-122"/>
                <a:cs typeface="Calibri" pitchFamily="34" charset="-120"/>
              </a:rPr>
              <a:t>Serbia collects water quality data from dozens of stations every year. But having numbers and understanding what they mean spatially are two very different things.</a:t>
            </a:r>
            <a:endParaRPr lang="en-US" sz="1150" dirty="0"/>
          </a:p>
        </p:txBody>
      </p:sp>
      <p:sp>
        <p:nvSpPr>
          <p:cNvPr id="8" name="Shape 5"/>
          <p:cNvSpPr/>
          <p:nvPr/>
        </p:nvSpPr>
        <p:spPr>
          <a:xfrm>
            <a:off x="3200400" y="1005840"/>
            <a:ext cx="2651760" cy="3703320"/>
          </a:xfrm>
          <a:prstGeom prst="roundRect">
            <a:avLst>
              <a:gd name="adj" fmla="val 3448"/>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9" name="Shape 6"/>
          <p:cNvSpPr/>
          <p:nvPr/>
        </p:nvSpPr>
        <p:spPr>
          <a:xfrm>
            <a:off x="4160520" y="1170432"/>
            <a:ext cx="749808" cy="749808"/>
          </a:xfrm>
          <a:prstGeom prst="ellipse">
            <a:avLst/>
          </a:prstGeom>
          <a:solidFill>
            <a:srgbClr val="065A82"/>
          </a:solidFill>
          <a:ln/>
        </p:spPr>
        <p:txBody>
          <a:bodyPr/>
          <a:lstStyle/>
          <a:p>
            <a:endParaRPr lang="en-GB"/>
          </a:p>
        </p:txBody>
      </p:sp>
      <p:pic>
        <p:nvPicPr>
          <p:cNvPr id="10" name="Image 1" descr="preencoded.png"/>
          <p:cNvPicPr>
            <a:picLocks noChangeAspect="1"/>
          </p:cNvPicPr>
          <p:nvPr/>
        </p:nvPicPr>
        <p:blipFill>
          <a:blip r:embed="rId4"/>
          <a:stretch>
            <a:fillRect/>
          </a:stretch>
        </p:blipFill>
        <p:spPr>
          <a:xfrm>
            <a:off x="4251960" y="1261872"/>
            <a:ext cx="566928" cy="566928"/>
          </a:xfrm>
          <a:prstGeom prst="rect">
            <a:avLst/>
          </a:prstGeom>
        </p:spPr>
      </p:pic>
      <p:sp>
        <p:nvSpPr>
          <p:cNvPr id="11" name="Text 7"/>
          <p:cNvSpPr/>
          <p:nvPr/>
        </p:nvSpPr>
        <p:spPr>
          <a:xfrm>
            <a:off x="3328416" y="2075688"/>
            <a:ext cx="2395728" cy="594360"/>
          </a:xfrm>
          <a:prstGeom prst="rect">
            <a:avLst/>
          </a:prstGeom>
          <a:noFill/>
          <a:ln/>
        </p:spPr>
        <p:txBody>
          <a:bodyPr wrap="square" rtlCol="0" anchor="ctr"/>
          <a:lstStyle/>
          <a:p>
            <a:pPr marL="0" indent="0" algn="ctr">
              <a:buNone/>
            </a:pPr>
            <a:r>
              <a:rPr lang="en-US" sz="1300" b="1" dirty="0">
                <a:solidFill>
                  <a:srgbClr val="21295C"/>
                </a:solidFill>
                <a:latin typeface="Cambria" pitchFamily="34" charset="0"/>
                <a:ea typeface="Cambria" pitchFamily="34" charset="-122"/>
                <a:cs typeface="Cambria" pitchFamily="34" charset="-120"/>
              </a:rPr>
              <a:t>Where exactly is the problem?</a:t>
            </a:r>
            <a:endParaRPr lang="en-US" sz="1300" dirty="0"/>
          </a:p>
        </p:txBody>
      </p:sp>
      <p:sp>
        <p:nvSpPr>
          <p:cNvPr id="12" name="Text 8"/>
          <p:cNvSpPr/>
          <p:nvPr/>
        </p:nvSpPr>
        <p:spPr>
          <a:xfrm>
            <a:off x="3328416" y="2743200"/>
            <a:ext cx="2395728" cy="1783080"/>
          </a:xfrm>
          <a:prstGeom prst="rect">
            <a:avLst/>
          </a:prstGeom>
          <a:noFill/>
          <a:ln/>
        </p:spPr>
        <p:txBody>
          <a:bodyPr wrap="square" rtlCol="0" anchor="ctr"/>
          <a:lstStyle/>
          <a:p>
            <a:pPr marL="0" indent="0" algn="ctr">
              <a:buNone/>
            </a:pPr>
            <a:r>
              <a:rPr lang="en-US" sz="1150" dirty="0">
                <a:solidFill>
                  <a:srgbClr val="5B7A8A"/>
                </a:solidFill>
                <a:latin typeface="Calibri" pitchFamily="34" charset="0"/>
                <a:ea typeface="Calibri" pitchFamily="34" charset="-122"/>
                <a:cs typeface="Calibri" pitchFamily="34" charset="-120"/>
              </a:rPr>
              <a:t>Standard monitoring tells us if a station crossed a limit. It does not tell us where risk is concentrated, how it spreads, or whether it is getting worse.</a:t>
            </a:r>
            <a:endParaRPr lang="en-US" sz="1150" dirty="0"/>
          </a:p>
        </p:txBody>
      </p:sp>
      <p:sp>
        <p:nvSpPr>
          <p:cNvPr id="13" name="Shape 9"/>
          <p:cNvSpPr/>
          <p:nvPr/>
        </p:nvSpPr>
        <p:spPr>
          <a:xfrm>
            <a:off x="6053328" y="1005840"/>
            <a:ext cx="2651760" cy="3703320"/>
          </a:xfrm>
          <a:prstGeom prst="roundRect">
            <a:avLst>
              <a:gd name="adj" fmla="val 3448"/>
            </a:avLst>
          </a:prstGeom>
          <a:solidFill>
            <a:srgbClr val="FFFFFF"/>
          </a:solidFill>
          <a:ln/>
          <a:effectLst>
            <a:outerShdw blurRad="101600" dist="38100" dir="2700000" algn="bl" rotWithShape="0">
              <a:srgbClr val="000000">
                <a:alpha val="13000"/>
              </a:srgbClr>
            </a:outerShdw>
          </a:effectLst>
        </p:spPr>
        <p:txBody>
          <a:bodyPr/>
          <a:lstStyle/>
          <a:p>
            <a:endParaRPr lang="en-GB"/>
          </a:p>
        </p:txBody>
      </p:sp>
      <p:sp>
        <p:nvSpPr>
          <p:cNvPr id="14" name="Shape 10"/>
          <p:cNvSpPr/>
          <p:nvPr/>
        </p:nvSpPr>
        <p:spPr>
          <a:xfrm>
            <a:off x="7013448" y="1170432"/>
            <a:ext cx="749808" cy="749808"/>
          </a:xfrm>
          <a:prstGeom prst="ellipse">
            <a:avLst/>
          </a:prstGeom>
          <a:solidFill>
            <a:srgbClr val="02C39A"/>
          </a:solidFill>
          <a:ln/>
        </p:spPr>
        <p:txBody>
          <a:bodyPr/>
          <a:lstStyle/>
          <a:p>
            <a:endParaRPr lang="en-GB"/>
          </a:p>
        </p:txBody>
      </p:sp>
      <p:pic>
        <p:nvPicPr>
          <p:cNvPr id="15" name="Image 2" descr="preencoded.png"/>
          <p:cNvPicPr>
            <a:picLocks noChangeAspect="1"/>
          </p:cNvPicPr>
          <p:nvPr/>
        </p:nvPicPr>
        <p:blipFill>
          <a:blip r:embed="rId5"/>
          <a:stretch>
            <a:fillRect/>
          </a:stretch>
        </p:blipFill>
        <p:spPr>
          <a:xfrm>
            <a:off x="7104888" y="1261872"/>
            <a:ext cx="566928" cy="566928"/>
          </a:xfrm>
          <a:prstGeom prst="rect">
            <a:avLst/>
          </a:prstGeom>
        </p:spPr>
      </p:pic>
      <p:sp>
        <p:nvSpPr>
          <p:cNvPr id="16" name="Text 11"/>
          <p:cNvSpPr/>
          <p:nvPr/>
        </p:nvSpPr>
        <p:spPr>
          <a:xfrm>
            <a:off x="6181344" y="2075688"/>
            <a:ext cx="2395728" cy="594360"/>
          </a:xfrm>
          <a:prstGeom prst="rect">
            <a:avLst/>
          </a:prstGeom>
          <a:noFill/>
          <a:ln/>
        </p:spPr>
        <p:txBody>
          <a:bodyPr wrap="square" rtlCol="0" anchor="ctr"/>
          <a:lstStyle/>
          <a:p>
            <a:pPr marL="0" indent="0" algn="ctr">
              <a:buNone/>
            </a:pPr>
            <a:r>
              <a:rPr lang="en-US" sz="1300" b="1" dirty="0">
                <a:solidFill>
                  <a:srgbClr val="21295C"/>
                </a:solidFill>
                <a:latin typeface="Cambria" pitchFamily="34" charset="0"/>
                <a:ea typeface="Cambria" pitchFamily="34" charset="-122"/>
                <a:cs typeface="Cambria" pitchFamily="34" charset="-120"/>
              </a:rPr>
              <a:t>Pass/fail is not enough</a:t>
            </a:r>
            <a:endParaRPr lang="en-US" sz="1300" dirty="0"/>
          </a:p>
        </p:txBody>
      </p:sp>
      <p:sp>
        <p:nvSpPr>
          <p:cNvPr id="17" name="Text 12"/>
          <p:cNvSpPr/>
          <p:nvPr/>
        </p:nvSpPr>
        <p:spPr>
          <a:xfrm>
            <a:off x="6181344" y="2743200"/>
            <a:ext cx="2395728" cy="1783080"/>
          </a:xfrm>
          <a:prstGeom prst="rect">
            <a:avLst/>
          </a:prstGeom>
          <a:noFill/>
          <a:ln/>
        </p:spPr>
        <p:txBody>
          <a:bodyPr wrap="square" rtlCol="0" anchor="ctr"/>
          <a:lstStyle/>
          <a:p>
            <a:pPr marL="0" indent="0" algn="ctr">
              <a:buNone/>
            </a:pPr>
            <a:r>
              <a:rPr lang="en-US" sz="1150" dirty="0">
                <a:solidFill>
                  <a:srgbClr val="5B7A8A"/>
                </a:solidFill>
                <a:latin typeface="Calibri" pitchFamily="34" charset="0"/>
                <a:ea typeface="Calibri" pitchFamily="34" charset="-122"/>
                <a:cs typeface="Calibri" pitchFamily="34" charset="-120"/>
              </a:rPr>
              <a:t>A simple yes/no answer misses gradients between stations, changes over time, and how pollution moves from one part of a river system to another.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BFD"/>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Study Area &amp; Data</a:t>
            </a:r>
            <a:endParaRPr lang="en-US" sz="3000" dirty="0"/>
          </a:p>
        </p:txBody>
      </p:sp>
      <p:pic>
        <p:nvPicPr>
          <p:cNvPr id="3" name="Image 0" descr="/mnt/user-data/uploads/Fig__1_Spatial_distribution_of_surface_water_monitoring_locations_in_Serbia.png"/>
          <p:cNvPicPr>
            <a:picLocks noChangeAspect="1"/>
          </p:cNvPicPr>
          <p:nvPr/>
        </p:nvPicPr>
        <p:blipFill>
          <a:blip r:embed="rId3"/>
          <a:stretch>
            <a:fillRect/>
          </a:stretch>
        </p:blipFill>
        <p:spPr>
          <a:xfrm>
            <a:off x="201168" y="749808"/>
            <a:ext cx="3246120" cy="4279392"/>
          </a:xfrm>
          <a:prstGeom prst="rect">
            <a:avLst/>
          </a:prstGeom>
        </p:spPr>
      </p:pic>
      <p:sp>
        <p:nvSpPr>
          <p:cNvPr id="4" name="Shape 1"/>
          <p:cNvSpPr/>
          <p:nvPr/>
        </p:nvSpPr>
        <p:spPr>
          <a:xfrm>
            <a:off x="3657600" y="749808"/>
            <a:ext cx="5257800" cy="585216"/>
          </a:xfrm>
          <a:prstGeom prst="roundRect">
            <a:avLst>
              <a:gd name="adj" fmla="val 10938"/>
            </a:avLst>
          </a:prstGeom>
          <a:solidFill>
            <a:srgbClr val="065A82"/>
          </a:solidFill>
          <a:ln/>
        </p:spPr>
        <p:txBody>
          <a:bodyPr/>
          <a:lstStyle/>
          <a:p>
            <a:endParaRPr lang="en-GB"/>
          </a:p>
        </p:txBody>
      </p:sp>
      <p:sp>
        <p:nvSpPr>
          <p:cNvPr id="5" name="Text 2"/>
          <p:cNvSpPr/>
          <p:nvPr/>
        </p:nvSpPr>
        <p:spPr>
          <a:xfrm>
            <a:off x="3767328" y="768096"/>
            <a:ext cx="749808" cy="548640"/>
          </a:xfrm>
          <a:prstGeom prst="rect">
            <a:avLst/>
          </a:prstGeom>
          <a:noFill/>
          <a:ln/>
        </p:spPr>
        <p:txBody>
          <a:bodyPr wrap="square" rtlCol="0" anchor="ctr"/>
          <a:lstStyle/>
          <a:p>
            <a:pPr marL="0" indent="0" algn="ctr">
              <a:buNone/>
            </a:pPr>
            <a:r>
              <a:rPr lang="en-US" sz="3200" b="1" dirty="0">
                <a:solidFill>
                  <a:srgbClr val="02C39A"/>
                </a:solidFill>
                <a:latin typeface="Cambria" pitchFamily="34" charset="0"/>
                <a:ea typeface="Cambria" pitchFamily="34" charset="-122"/>
                <a:cs typeface="Cambria" pitchFamily="34" charset="-120"/>
              </a:rPr>
              <a:t>54</a:t>
            </a:r>
            <a:endParaRPr lang="en-US" sz="3200" dirty="0"/>
          </a:p>
        </p:txBody>
      </p:sp>
      <p:sp>
        <p:nvSpPr>
          <p:cNvPr id="6" name="Text 3"/>
          <p:cNvSpPr/>
          <p:nvPr/>
        </p:nvSpPr>
        <p:spPr>
          <a:xfrm>
            <a:off x="4617720" y="877824"/>
            <a:ext cx="4160520" cy="32918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Monitoring Stations</a:t>
            </a:r>
            <a:endParaRPr lang="en-US" sz="1350" dirty="0"/>
          </a:p>
        </p:txBody>
      </p:sp>
      <p:sp>
        <p:nvSpPr>
          <p:cNvPr id="7" name="Shape 4"/>
          <p:cNvSpPr/>
          <p:nvPr/>
        </p:nvSpPr>
        <p:spPr>
          <a:xfrm>
            <a:off x="3657600" y="1408176"/>
            <a:ext cx="5257800" cy="585216"/>
          </a:xfrm>
          <a:prstGeom prst="roundRect">
            <a:avLst>
              <a:gd name="adj" fmla="val 10938"/>
            </a:avLst>
          </a:prstGeom>
          <a:solidFill>
            <a:srgbClr val="1C7293"/>
          </a:solidFill>
          <a:ln/>
        </p:spPr>
        <p:txBody>
          <a:bodyPr/>
          <a:lstStyle/>
          <a:p>
            <a:endParaRPr lang="en-GB"/>
          </a:p>
        </p:txBody>
      </p:sp>
      <p:sp>
        <p:nvSpPr>
          <p:cNvPr id="8" name="Text 5"/>
          <p:cNvSpPr/>
          <p:nvPr/>
        </p:nvSpPr>
        <p:spPr>
          <a:xfrm>
            <a:off x="3767328" y="1426464"/>
            <a:ext cx="749808" cy="548640"/>
          </a:xfrm>
          <a:prstGeom prst="rect">
            <a:avLst/>
          </a:prstGeom>
          <a:noFill/>
          <a:ln/>
        </p:spPr>
        <p:txBody>
          <a:bodyPr wrap="square" rtlCol="0" anchor="ctr"/>
          <a:lstStyle/>
          <a:p>
            <a:pPr marL="0" indent="0" algn="ctr">
              <a:buNone/>
            </a:pPr>
            <a:r>
              <a:rPr lang="en-US" sz="3200" b="1" dirty="0">
                <a:solidFill>
                  <a:srgbClr val="02C39A"/>
                </a:solidFill>
                <a:latin typeface="Cambria" pitchFamily="34" charset="0"/>
                <a:ea typeface="Cambria" pitchFamily="34" charset="-122"/>
                <a:cs typeface="Cambria" pitchFamily="34" charset="-120"/>
              </a:rPr>
              <a:t>3</a:t>
            </a:r>
            <a:endParaRPr lang="en-US" sz="3200" dirty="0"/>
          </a:p>
        </p:txBody>
      </p:sp>
      <p:sp>
        <p:nvSpPr>
          <p:cNvPr id="9" name="Text 6"/>
          <p:cNvSpPr/>
          <p:nvPr/>
        </p:nvSpPr>
        <p:spPr>
          <a:xfrm>
            <a:off x="4617720" y="1536192"/>
            <a:ext cx="4160520" cy="32918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Heavy Metals</a:t>
            </a:r>
            <a:endParaRPr lang="en-US" sz="1350" dirty="0"/>
          </a:p>
        </p:txBody>
      </p:sp>
      <p:sp>
        <p:nvSpPr>
          <p:cNvPr id="10" name="Shape 7"/>
          <p:cNvSpPr/>
          <p:nvPr/>
        </p:nvSpPr>
        <p:spPr>
          <a:xfrm>
            <a:off x="3657600" y="2066544"/>
            <a:ext cx="5257800" cy="585216"/>
          </a:xfrm>
          <a:prstGeom prst="roundRect">
            <a:avLst>
              <a:gd name="adj" fmla="val 10938"/>
            </a:avLst>
          </a:prstGeom>
          <a:solidFill>
            <a:srgbClr val="065A82"/>
          </a:solidFill>
          <a:ln/>
        </p:spPr>
        <p:txBody>
          <a:bodyPr/>
          <a:lstStyle/>
          <a:p>
            <a:endParaRPr lang="en-GB"/>
          </a:p>
        </p:txBody>
      </p:sp>
      <p:sp>
        <p:nvSpPr>
          <p:cNvPr id="11" name="Text 8"/>
          <p:cNvSpPr/>
          <p:nvPr/>
        </p:nvSpPr>
        <p:spPr>
          <a:xfrm>
            <a:off x="3767328" y="2084832"/>
            <a:ext cx="749808" cy="548640"/>
          </a:xfrm>
          <a:prstGeom prst="rect">
            <a:avLst/>
          </a:prstGeom>
          <a:noFill/>
          <a:ln/>
        </p:spPr>
        <p:txBody>
          <a:bodyPr wrap="square" rtlCol="0" anchor="ctr"/>
          <a:lstStyle/>
          <a:p>
            <a:pPr marL="0" indent="0" algn="ctr">
              <a:buNone/>
            </a:pPr>
            <a:r>
              <a:rPr lang="en-US" sz="3200" b="1" dirty="0">
                <a:solidFill>
                  <a:srgbClr val="02C39A"/>
                </a:solidFill>
                <a:latin typeface="Cambria" pitchFamily="34" charset="0"/>
                <a:ea typeface="Cambria" pitchFamily="34" charset="-122"/>
                <a:cs typeface="Cambria" pitchFamily="34" charset="-120"/>
              </a:rPr>
              <a:t>5</a:t>
            </a:r>
            <a:endParaRPr lang="en-US" sz="3200" dirty="0"/>
          </a:p>
        </p:txBody>
      </p:sp>
      <p:sp>
        <p:nvSpPr>
          <p:cNvPr id="12" name="Text 9"/>
          <p:cNvSpPr/>
          <p:nvPr/>
        </p:nvSpPr>
        <p:spPr>
          <a:xfrm>
            <a:off x="4617720" y="2194560"/>
            <a:ext cx="4160520" cy="32918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Years  (2019–2023)</a:t>
            </a:r>
            <a:endParaRPr lang="en-US" sz="1350" dirty="0"/>
          </a:p>
        </p:txBody>
      </p:sp>
      <p:sp>
        <p:nvSpPr>
          <p:cNvPr id="13" name="Shape 10"/>
          <p:cNvSpPr/>
          <p:nvPr/>
        </p:nvSpPr>
        <p:spPr>
          <a:xfrm>
            <a:off x="3657600" y="2743200"/>
            <a:ext cx="5257800" cy="585216"/>
          </a:xfrm>
          <a:prstGeom prst="roundRect">
            <a:avLst>
              <a:gd name="adj" fmla="val 10938"/>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14" name="Shape 11"/>
          <p:cNvSpPr/>
          <p:nvPr/>
        </p:nvSpPr>
        <p:spPr>
          <a:xfrm>
            <a:off x="3749040" y="2834640"/>
            <a:ext cx="402336" cy="402336"/>
          </a:xfrm>
          <a:prstGeom prst="ellipse">
            <a:avLst/>
          </a:prstGeom>
          <a:solidFill>
            <a:srgbClr val="1C7293"/>
          </a:solidFill>
          <a:ln/>
        </p:spPr>
        <p:txBody>
          <a:bodyPr/>
          <a:lstStyle/>
          <a:p>
            <a:endParaRPr lang="en-GB"/>
          </a:p>
        </p:txBody>
      </p:sp>
      <p:sp>
        <p:nvSpPr>
          <p:cNvPr id="15" name="Text 12"/>
          <p:cNvSpPr/>
          <p:nvPr/>
        </p:nvSpPr>
        <p:spPr>
          <a:xfrm>
            <a:off x="3749040" y="2834640"/>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rPr>
              <a:t>Cd</a:t>
            </a:r>
            <a:endParaRPr lang="en-US" sz="1100" dirty="0"/>
          </a:p>
        </p:txBody>
      </p:sp>
      <p:sp>
        <p:nvSpPr>
          <p:cNvPr id="16" name="Text 13"/>
          <p:cNvSpPr/>
          <p:nvPr/>
        </p:nvSpPr>
        <p:spPr>
          <a:xfrm>
            <a:off x="4251960" y="2779776"/>
            <a:ext cx="1097280" cy="237744"/>
          </a:xfrm>
          <a:prstGeom prst="rect">
            <a:avLst/>
          </a:prstGeom>
          <a:noFill/>
          <a:ln/>
        </p:spPr>
        <p:txBody>
          <a:bodyPr wrap="square" rtlCol="0" anchor="ctr"/>
          <a:lstStyle/>
          <a:p>
            <a:pPr marL="0" indent="0">
              <a:buNone/>
            </a:pPr>
            <a:r>
              <a:rPr lang="en-US" sz="1150" b="1" dirty="0">
                <a:solidFill>
                  <a:srgbClr val="065A82"/>
                </a:solidFill>
                <a:latin typeface="Cambria" pitchFamily="34" charset="0"/>
                <a:ea typeface="Cambria" pitchFamily="34" charset="-122"/>
                <a:cs typeface="Cambria" pitchFamily="34" charset="-120"/>
              </a:rPr>
              <a:t>Cadmium</a:t>
            </a:r>
            <a:endParaRPr lang="en-US" sz="1150" dirty="0"/>
          </a:p>
        </p:txBody>
      </p:sp>
      <p:sp>
        <p:nvSpPr>
          <p:cNvPr id="17" name="Text 14"/>
          <p:cNvSpPr/>
          <p:nvPr/>
        </p:nvSpPr>
        <p:spPr>
          <a:xfrm>
            <a:off x="4251960" y="3017520"/>
            <a:ext cx="4572000" cy="256032"/>
          </a:xfrm>
          <a:prstGeom prst="rect">
            <a:avLst/>
          </a:prstGeom>
          <a:noFill/>
          <a:ln/>
        </p:spPr>
        <p:txBody>
          <a:bodyPr wrap="square" rtlCol="0" anchor="ctr"/>
          <a:lstStyle/>
          <a:p>
            <a:pPr marL="0" indent="0">
              <a:buNone/>
            </a:pPr>
            <a:r>
              <a:rPr lang="en-US" sz="1000" dirty="0">
                <a:solidFill>
                  <a:srgbClr val="5B7A8A"/>
                </a:solidFill>
                <a:latin typeface="Calibri" pitchFamily="34" charset="0"/>
                <a:ea typeface="Calibri" pitchFamily="34" charset="-122"/>
                <a:cs typeface="Calibri" pitchFamily="34" charset="-120"/>
              </a:rPr>
              <a:t>Highly toxic, accumulates in kidneys over time. One of the most tightly regulated metals under the EU Water Framework Directive.</a:t>
            </a:r>
            <a:endParaRPr lang="en-US" sz="1000" dirty="0"/>
          </a:p>
        </p:txBody>
      </p:sp>
      <p:sp>
        <p:nvSpPr>
          <p:cNvPr id="18" name="Shape 15"/>
          <p:cNvSpPr/>
          <p:nvPr/>
        </p:nvSpPr>
        <p:spPr>
          <a:xfrm>
            <a:off x="3657600" y="3401568"/>
            <a:ext cx="5257800" cy="585216"/>
          </a:xfrm>
          <a:prstGeom prst="roundRect">
            <a:avLst>
              <a:gd name="adj" fmla="val 10938"/>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19" name="Shape 16"/>
          <p:cNvSpPr/>
          <p:nvPr/>
        </p:nvSpPr>
        <p:spPr>
          <a:xfrm>
            <a:off x="3749040" y="3493008"/>
            <a:ext cx="402336" cy="402336"/>
          </a:xfrm>
          <a:prstGeom prst="ellipse">
            <a:avLst/>
          </a:prstGeom>
          <a:solidFill>
            <a:srgbClr val="1C7293"/>
          </a:solidFill>
          <a:ln/>
        </p:spPr>
        <p:txBody>
          <a:bodyPr/>
          <a:lstStyle/>
          <a:p>
            <a:endParaRPr lang="en-GB"/>
          </a:p>
        </p:txBody>
      </p:sp>
      <p:sp>
        <p:nvSpPr>
          <p:cNvPr id="20" name="Text 17"/>
          <p:cNvSpPr/>
          <p:nvPr/>
        </p:nvSpPr>
        <p:spPr>
          <a:xfrm>
            <a:off x="3749040" y="3493008"/>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rPr>
              <a:t>Pb</a:t>
            </a:r>
            <a:endParaRPr lang="en-US" sz="1100" dirty="0"/>
          </a:p>
        </p:txBody>
      </p:sp>
      <p:sp>
        <p:nvSpPr>
          <p:cNvPr id="21" name="Text 18"/>
          <p:cNvSpPr/>
          <p:nvPr/>
        </p:nvSpPr>
        <p:spPr>
          <a:xfrm>
            <a:off x="4251960" y="3438144"/>
            <a:ext cx="1097280" cy="237744"/>
          </a:xfrm>
          <a:prstGeom prst="rect">
            <a:avLst/>
          </a:prstGeom>
          <a:noFill/>
          <a:ln/>
        </p:spPr>
        <p:txBody>
          <a:bodyPr wrap="square" rtlCol="0" anchor="ctr"/>
          <a:lstStyle/>
          <a:p>
            <a:pPr marL="0" indent="0">
              <a:buNone/>
            </a:pPr>
            <a:r>
              <a:rPr lang="en-US" sz="1150" b="1" dirty="0">
                <a:solidFill>
                  <a:srgbClr val="065A82"/>
                </a:solidFill>
                <a:latin typeface="Cambria" pitchFamily="34" charset="0"/>
                <a:ea typeface="Cambria" pitchFamily="34" charset="-122"/>
                <a:cs typeface="Cambria" pitchFamily="34" charset="-120"/>
              </a:rPr>
              <a:t>Lead</a:t>
            </a:r>
            <a:endParaRPr lang="en-US" sz="1150" dirty="0"/>
          </a:p>
        </p:txBody>
      </p:sp>
      <p:sp>
        <p:nvSpPr>
          <p:cNvPr id="22" name="Text 19"/>
          <p:cNvSpPr/>
          <p:nvPr/>
        </p:nvSpPr>
        <p:spPr>
          <a:xfrm>
            <a:off x="4251960" y="3675888"/>
            <a:ext cx="4572000" cy="256032"/>
          </a:xfrm>
          <a:prstGeom prst="rect">
            <a:avLst/>
          </a:prstGeom>
          <a:noFill/>
          <a:ln/>
        </p:spPr>
        <p:txBody>
          <a:bodyPr wrap="square" rtlCol="0" anchor="ctr"/>
          <a:lstStyle/>
          <a:p>
            <a:pPr marL="0" indent="0">
              <a:buNone/>
            </a:pPr>
            <a:r>
              <a:rPr lang="en-US" sz="1000" dirty="0">
                <a:solidFill>
                  <a:srgbClr val="5B7A8A"/>
                </a:solidFill>
                <a:latin typeface="Calibri" pitchFamily="34" charset="0"/>
                <a:ea typeface="Calibri" pitchFamily="34" charset="-122"/>
                <a:cs typeface="Calibri" pitchFamily="34" charset="-120"/>
              </a:rPr>
              <a:t>A potent neurotoxin that binds to river sediments and persists for decades. Closely linked to legacy mining and industrial activity.</a:t>
            </a:r>
            <a:endParaRPr lang="en-US" sz="1000" dirty="0"/>
          </a:p>
        </p:txBody>
      </p:sp>
      <p:sp>
        <p:nvSpPr>
          <p:cNvPr id="23" name="Shape 20"/>
          <p:cNvSpPr/>
          <p:nvPr/>
        </p:nvSpPr>
        <p:spPr>
          <a:xfrm>
            <a:off x="3657600" y="4059936"/>
            <a:ext cx="5257800" cy="585216"/>
          </a:xfrm>
          <a:prstGeom prst="roundRect">
            <a:avLst>
              <a:gd name="adj" fmla="val 10938"/>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24" name="Shape 21"/>
          <p:cNvSpPr/>
          <p:nvPr/>
        </p:nvSpPr>
        <p:spPr>
          <a:xfrm>
            <a:off x="3749040" y="4151376"/>
            <a:ext cx="402336" cy="402336"/>
          </a:xfrm>
          <a:prstGeom prst="ellipse">
            <a:avLst/>
          </a:prstGeom>
          <a:solidFill>
            <a:srgbClr val="1C7293"/>
          </a:solidFill>
          <a:ln/>
        </p:spPr>
        <p:txBody>
          <a:bodyPr/>
          <a:lstStyle/>
          <a:p>
            <a:endParaRPr lang="en-GB"/>
          </a:p>
        </p:txBody>
      </p:sp>
      <p:sp>
        <p:nvSpPr>
          <p:cNvPr id="25" name="Text 22"/>
          <p:cNvSpPr/>
          <p:nvPr/>
        </p:nvSpPr>
        <p:spPr>
          <a:xfrm>
            <a:off x="3749040" y="4151376"/>
            <a:ext cx="402336" cy="402336"/>
          </a:xfrm>
          <a:prstGeom prst="rect">
            <a:avLst/>
          </a:prstGeom>
          <a:noFill/>
          <a:ln/>
        </p:spPr>
        <p:txBody>
          <a:bodyPr wrap="square" lIns="0" tIns="0" rIns="0" bIns="0" rtlCol="0" anchor="ctr"/>
          <a:lstStyle/>
          <a:p>
            <a:pPr marL="0" indent="0" algn="ctr">
              <a:buNone/>
            </a:pPr>
            <a:r>
              <a:rPr lang="en-US" sz="1100" b="1" dirty="0">
                <a:solidFill>
                  <a:srgbClr val="FFFFFF"/>
                </a:solidFill>
              </a:rPr>
              <a:t>Ni</a:t>
            </a:r>
            <a:endParaRPr lang="en-US" sz="1100" dirty="0"/>
          </a:p>
        </p:txBody>
      </p:sp>
      <p:sp>
        <p:nvSpPr>
          <p:cNvPr id="26" name="Text 23"/>
          <p:cNvSpPr/>
          <p:nvPr/>
        </p:nvSpPr>
        <p:spPr>
          <a:xfrm>
            <a:off x="4251960" y="4096512"/>
            <a:ext cx="1097280" cy="237744"/>
          </a:xfrm>
          <a:prstGeom prst="rect">
            <a:avLst/>
          </a:prstGeom>
          <a:noFill/>
          <a:ln/>
        </p:spPr>
        <p:txBody>
          <a:bodyPr wrap="square" rtlCol="0" anchor="ctr"/>
          <a:lstStyle/>
          <a:p>
            <a:pPr marL="0" indent="0">
              <a:buNone/>
            </a:pPr>
            <a:r>
              <a:rPr lang="en-US" sz="1150" b="1" dirty="0">
                <a:solidFill>
                  <a:srgbClr val="065A82"/>
                </a:solidFill>
                <a:latin typeface="Cambria" pitchFamily="34" charset="0"/>
                <a:ea typeface="Cambria" pitchFamily="34" charset="-122"/>
                <a:cs typeface="Cambria" pitchFamily="34" charset="-120"/>
              </a:rPr>
              <a:t>Nickel</a:t>
            </a:r>
            <a:endParaRPr lang="en-US" sz="1150" dirty="0"/>
          </a:p>
        </p:txBody>
      </p:sp>
      <p:sp>
        <p:nvSpPr>
          <p:cNvPr id="27" name="Text 24"/>
          <p:cNvSpPr/>
          <p:nvPr/>
        </p:nvSpPr>
        <p:spPr>
          <a:xfrm>
            <a:off x="4251960" y="4334256"/>
            <a:ext cx="4572000" cy="256032"/>
          </a:xfrm>
          <a:prstGeom prst="rect">
            <a:avLst/>
          </a:prstGeom>
          <a:noFill/>
          <a:ln/>
        </p:spPr>
        <p:txBody>
          <a:bodyPr wrap="square" rtlCol="0" anchor="ctr"/>
          <a:lstStyle/>
          <a:p>
            <a:pPr marL="0" indent="0">
              <a:buNone/>
            </a:pPr>
            <a:r>
              <a:rPr lang="en-US" sz="1000" dirty="0">
                <a:solidFill>
                  <a:srgbClr val="5B7A8A"/>
                </a:solidFill>
                <a:latin typeface="Calibri" pitchFamily="34" charset="0"/>
                <a:ea typeface="Calibri" pitchFamily="34" charset="-122"/>
                <a:cs typeface="Calibri" pitchFamily="34" charset="-120"/>
              </a:rPr>
              <a:t>Harmful at relatively low concentrations. Enters rivers mainly through mining runoff, industrial effluents, and urban stormwater.</a:t>
            </a:r>
            <a:endParaRPr lang="en-US" sz="1000" dirty="0"/>
          </a:p>
        </p:txBody>
      </p:sp>
      <p:sp>
        <p:nvSpPr>
          <p:cNvPr id="28" name="Shape 25"/>
          <p:cNvSpPr/>
          <p:nvPr/>
        </p:nvSpPr>
        <p:spPr>
          <a:xfrm>
            <a:off x="3657600" y="4727448"/>
            <a:ext cx="5257800" cy="310896"/>
          </a:xfrm>
          <a:prstGeom prst="roundRect">
            <a:avLst>
              <a:gd name="adj" fmla="val 17647"/>
            </a:avLst>
          </a:prstGeom>
          <a:solidFill>
            <a:srgbClr val="1C7293"/>
          </a:solidFill>
          <a:ln/>
        </p:spPr>
        <p:txBody>
          <a:bodyPr/>
          <a:lstStyle/>
          <a:p>
            <a:endParaRPr lang="en-GB"/>
          </a:p>
        </p:txBody>
      </p:sp>
      <p:sp>
        <p:nvSpPr>
          <p:cNvPr id="29" name="Text 26"/>
          <p:cNvSpPr/>
          <p:nvPr/>
        </p:nvSpPr>
        <p:spPr>
          <a:xfrm>
            <a:off x="3749040" y="4727448"/>
            <a:ext cx="5074920" cy="310896"/>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River systems:  Danube · Sava · Drina · Velika Morava · Južna Morava · Tisa · Tamiš · Timok</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the Method Works</a:t>
            </a:r>
            <a:endParaRPr lang="en-US" sz="2800" dirty="0"/>
          </a:p>
        </p:txBody>
      </p:sp>
      <p:sp>
        <p:nvSpPr>
          <p:cNvPr id="3" name="Shape 1"/>
          <p:cNvSpPr/>
          <p:nvPr/>
        </p:nvSpPr>
        <p:spPr>
          <a:xfrm>
            <a:off x="256032" y="932688"/>
            <a:ext cx="1463040" cy="2944368"/>
          </a:xfrm>
          <a:prstGeom prst="roundRect">
            <a:avLst>
              <a:gd name="adj" fmla="val 6250"/>
            </a:avLst>
          </a:prstGeom>
          <a:solidFill>
            <a:srgbClr val="1C7293">
              <a:alpha val="72000"/>
            </a:srgbClr>
          </a:solidFill>
          <a:ln/>
        </p:spPr>
        <p:txBody>
          <a:bodyPr/>
          <a:lstStyle/>
          <a:p>
            <a:endParaRPr lang="en-GB"/>
          </a:p>
        </p:txBody>
      </p:sp>
      <p:sp>
        <p:nvSpPr>
          <p:cNvPr id="4" name="Shape 2"/>
          <p:cNvSpPr/>
          <p:nvPr/>
        </p:nvSpPr>
        <p:spPr>
          <a:xfrm>
            <a:off x="310896" y="987552"/>
            <a:ext cx="365760" cy="365760"/>
          </a:xfrm>
          <a:prstGeom prst="ellipse">
            <a:avLst/>
          </a:prstGeom>
          <a:solidFill>
            <a:srgbClr val="02C39A"/>
          </a:solidFill>
          <a:ln/>
        </p:spPr>
        <p:txBody>
          <a:bodyPr/>
          <a:lstStyle/>
          <a:p>
            <a:endParaRPr lang="en-GB"/>
          </a:p>
        </p:txBody>
      </p:sp>
      <p:sp>
        <p:nvSpPr>
          <p:cNvPr id="5" name="Text 3"/>
          <p:cNvSpPr/>
          <p:nvPr/>
        </p:nvSpPr>
        <p:spPr>
          <a:xfrm>
            <a:off x="310896" y="987552"/>
            <a:ext cx="365760" cy="365760"/>
          </a:xfrm>
          <a:prstGeom prst="rect">
            <a:avLst/>
          </a:prstGeom>
          <a:noFill/>
          <a:ln/>
        </p:spPr>
        <p:txBody>
          <a:bodyPr wrap="square" lIns="0" tIns="0" rIns="0" bIns="0" rtlCol="0" anchor="ctr"/>
          <a:lstStyle/>
          <a:p>
            <a:pPr marL="0" indent="0" algn="ctr">
              <a:buNone/>
            </a:pPr>
            <a:r>
              <a:rPr lang="en-US" sz="1200" b="1" dirty="0">
                <a:solidFill>
                  <a:srgbClr val="21295C"/>
                </a:solidFill>
              </a:rPr>
              <a:t>1</a:t>
            </a:r>
            <a:endParaRPr lang="en-US" sz="1200" dirty="0"/>
          </a:p>
        </p:txBody>
      </p:sp>
      <p:pic>
        <p:nvPicPr>
          <p:cNvPr id="6" name="Image 0" descr="preencoded.png"/>
          <p:cNvPicPr>
            <a:picLocks noChangeAspect="1"/>
          </p:cNvPicPr>
          <p:nvPr/>
        </p:nvPicPr>
        <p:blipFill>
          <a:blip r:embed="rId3"/>
          <a:stretch>
            <a:fillRect/>
          </a:stretch>
        </p:blipFill>
        <p:spPr>
          <a:xfrm>
            <a:off x="694944" y="1078992"/>
            <a:ext cx="594360" cy="594360"/>
          </a:xfrm>
          <a:prstGeom prst="rect">
            <a:avLst/>
          </a:prstGeom>
        </p:spPr>
      </p:pic>
      <p:sp>
        <p:nvSpPr>
          <p:cNvPr id="7" name="Text 4"/>
          <p:cNvSpPr/>
          <p:nvPr/>
        </p:nvSpPr>
        <p:spPr>
          <a:xfrm>
            <a:off x="310896" y="1764792"/>
            <a:ext cx="1353312" cy="7772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Monitoring</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Data</a:t>
            </a:r>
            <a:endParaRPr lang="en-US" sz="1200" dirty="0"/>
          </a:p>
        </p:txBody>
      </p:sp>
      <p:sp>
        <p:nvSpPr>
          <p:cNvPr id="8" name="Text 5"/>
          <p:cNvSpPr/>
          <p:nvPr/>
        </p:nvSpPr>
        <p:spPr>
          <a:xfrm>
            <a:off x="310896" y="2624328"/>
            <a:ext cx="1353312" cy="438912"/>
          </a:xfrm>
          <a:prstGeom prst="rect">
            <a:avLst/>
          </a:prstGeom>
          <a:noFill/>
          <a:ln/>
        </p:spPr>
        <p:txBody>
          <a:bodyPr wrap="square" rtlCol="0" anchor="ctr"/>
          <a:lstStyle/>
          <a:p>
            <a:pPr marL="0" indent="0" algn="ctr">
              <a:buNone/>
            </a:pPr>
            <a:r>
              <a:rPr lang="en-US" sz="1000" i="1" dirty="0">
                <a:solidFill>
                  <a:srgbClr val="02C39A"/>
                </a:solidFill>
                <a:latin typeface="Calibri" pitchFamily="34" charset="0"/>
                <a:ea typeface="Calibri" pitchFamily="34" charset="-122"/>
                <a:cs typeface="Calibri" pitchFamily="34" charset="-120"/>
              </a:rPr>
              <a:t>54 stations · 5 yrs</a:t>
            </a:r>
            <a:endParaRPr lang="en-US" sz="1000" dirty="0"/>
          </a:p>
        </p:txBody>
      </p:sp>
      <p:sp>
        <p:nvSpPr>
          <p:cNvPr id="9" name="Shape 6"/>
          <p:cNvSpPr/>
          <p:nvPr/>
        </p:nvSpPr>
        <p:spPr>
          <a:xfrm>
            <a:off x="1737360" y="2359152"/>
            <a:ext cx="182880" cy="0"/>
          </a:xfrm>
          <a:prstGeom prst="line">
            <a:avLst/>
          </a:prstGeom>
          <a:noFill/>
          <a:ln w="25400">
            <a:solidFill>
              <a:srgbClr val="02C39A"/>
            </a:solidFill>
            <a:prstDash val="solid"/>
          </a:ln>
        </p:spPr>
        <p:txBody>
          <a:bodyPr/>
          <a:lstStyle/>
          <a:p>
            <a:endParaRPr lang="en-GB"/>
          </a:p>
        </p:txBody>
      </p:sp>
      <p:sp>
        <p:nvSpPr>
          <p:cNvPr id="10" name="Text 7"/>
          <p:cNvSpPr/>
          <p:nvPr/>
        </p:nvSpPr>
        <p:spPr>
          <a:xfrm>
            <a:off x="1737360" y="2258568"/>
            <a:ext cx="201168" cy="201168"/>
          </a:xfrm>
          <a:prstGeom prst="rect">
            <a:avLst/>
          </a:prstGeom>
          <a:noFill/>
          <a:ln/>
        </p:spPr>
        <p:txBody>
          <a:bodyPr wrap="square" lIns="0" tIns="0" rIns="0" bIns="0" rtlCol="0" anchor="ctr"/>
          <a:lstStyle/>
          <a:p>
            <a:pPr marL="0" indent="0">
              <a:buNone/>
            </a:pPr>
            <a:r>
              <a:rPr lang="en-US" sz="1000" dirty="0">
                <a:solidFill>
                  <a:srgbClr val="02C39A"/>
                </a:solidFill>
              </a:rPr>
              <a:t>▶</a:t>
            </a:r>
            <a:endParaRPr lang="en-US" sz="1000" dirty="0"/>
          </a:p>
        </p:txBody>
      </p:sp>
      <p:sp>
        <p:nvSpPr>
          <p:cNvPr id="11" name="Shape 8"/>
          <p:cNvSpPr/>
          <p:nvPr/>
        </p:nvSpPr>
        <p:spPr>
          <a:xfrm>
            <a:off x="1920240" y="932688"/>
            <a:ext cx="1463040" cy="2944368"/>
          </a:xfrm>
          <a:prstGeom prst="roundRect">
            <a:avLst>
              <a:gd name="adj" fmla="val 6250"/>
            </a:avLst>
          </a:prstGeom>
          <a:solidFill>
            <a:srgbClr val="1C7293">
              <a:alpha val="72000"/>
            </a:srgbClr>
          </a:solidFill>
          <a:ln/>
        </p:spPr>
        <p:txBody>
          <a:bodyPr/>
          <a:lstStyle/>
          <a:p>
            <a:endParaRPr lang="en-GB"/>
          </a:p>
        </p:txBody>
      </p:sp>
      <p:sp>
        <p:nvSpPr>
          <p:cNvPr id="12" name="Shape 9"/>
          <p:cNvSpPr/>
          <p:nvPr/>
        </p:nvSpPr>
        <p:spPr>
          <a:xfrm>
            <a:off x="1975104" y="987552"/>
            <a:ext cx="365760" cy="365760"/>
          </a:xfrm>
          <a:prstGeom prst="ellipse">
            <a:avLst/>
          </a:prstGeom>
          <a:solidFill>
            <a:srgbClr val="02C39A"/>
          </a:solidFill>
          <a:ln/>
        </p:spPr>
        <p:txBody>
          <a:bodyPr/>
          <a:lstStyle/>
          <a:p>
            <a:endParaRPr lang="en-GB"/>
          </a:p>
        </p:txBody>
      </p:sp>
      <p:sp>
        <p:nvSpPr>
          <p:cNvPr id="13" name="Text 10"/>
          <p:cNvSpPr/>
          <p:nvPr/>
        </p:nvSpPr>
        <p:spPr>
          <a:xfrm>
            <a:off x="1975104" y="987552"/>
            <a:ext cx="365760" cy="365760"/>
          </a:xfrm>
          <a:prstGeom prst="rect">
            <a:avLst/>
          </a:prstGeom>
          <a:noFill/>
          <a:ln/>
        </p:spPr>
        <p:txBody>
          <a:bodyPr wrap="square" lIns="0" tIns="0" rIns="0" bIns="0" rtlCol="0" anchor="ctr"/>
          <a:lstStyle/>
          <a:p>
            <a:pPr marL="0" indent="0" algn="ctr">
              <a:buNone/>
            </a:pPr>
            <a:r>
              <a:rPr lang="en-US" sz="1200" b="1" dirty="0">
                <a:solidFill>
                  <a:srgbClr val="21295C"/>
                </a:solidFill>
              </a:rPr>
              <a:t>2</a:t>
            </a:r>
            <a:endParaRPr lang="en-US" sz="1200" dirty="0"/>
          </a:p>
        </p:txBody>
      </p:sp>
      <p:pic>
        <p:nvPicPr>
          <p:cNvPr id="14" name="Image 1" descr="preencoded.png"/>
          <p:cNvPicPr>
            <a:picLocks noChangeAspect="1"/>
          </p:cNvPicPr>
          <p:nvPr/>
        </p:nvPicPr>
        <p:blipFill>
          <a:blip r:embed="rId4"/>
          <a:stretch>
            <a:fillRect/>
          </a:stretch>
        </p:blipFill>
        <p:spPr>
          <a:xfrm>
            <a:off x="2359152" y="1078992"/>
            <a:ext cx="594360" cy="594360"/>
          </a:xfrm>
          <a:prstGeom prst="rect">
            <a:avLst/>
          </a:prstGeom>
        </p:spPr>
      </p:pic>
      <p:sp>
        <p:nvSpPr>
          <p:cNvPr id="15" name="Text 11"/>
          <p:cNvSpPr/>
          <p:nvPr/>
        </p:nvSpPr>
        <p:spPr>
          <a:xfrm>
            <a:off x="1975104" y="1764792"/>
            <a:ext cx="1353312" cy="7772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Calculate</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Indexes</a:t>
            </a:r>
            <a:endParaRPr lang="en-US" sz="1200" dirty="0"/>
          </a:p>
        </p:txBody>
      </p:sp>
      <p:sp>
        <p:nvSpPr>
          <p:cNvPr id="16" name="Text 12"/>
          <p:cNvSpPr/>
          <p:nvPr/>
        </p:nvSpPr>
        <p:spPr>
          <a:xfrm>
            <a:off x="1975104" y="2624328"/>
            <a:ext cx="1353312" cy="438912"/>
          </a:xfrm>
          <a:prstGeom prst="rect">
            <a:avLst/>
          </a:prstGeom>
          <a:noFill/>
          <a:ln/>
        </p:spPr>
        <p:txBody>
          <a:bodyPr wrap="square" rtlCol="0" anchor="ctr"/>
          <a:lstStyle/>
          <a:p>
            <a:pPr marL="0" indent="0" algn="ctr">
              <a:buNone/>
            </a:pPr>
            <a:r>
              <a:rPr lang="en-US" sz="1000" i="1" dirty="0">
                <a:solidFill>
                  <a:srgbClr val="02C39A"/>
                </a:solidFill>
                <a:latin typeface="Calibri" pitchFamily="34" charset="0"/>
                <a:ea typeface="Calibri" pitchFamily="34" charset="-122"/>
                <a:cs typeface="Calibri" pitchFamily="34" charset="-120"/>
              </a:rPr>
              <a:t>4 different views</a:t>
            </a:r>
            <a:endParaRPr lang="en-US" sz="1000" dirty="0"/>
          </a:p>
        </p:txBody>
      </p:sp>
      <p:sp>
        <p:nvSpPr>
          <p:cNvPr id="17" name="Shape 13"/>
          <p:cNvSpPr/>
          <p:nvPr/>
        </p:nvSpPr>
        <p:spPr>
          <a:xfrm>
            <a:off x="3401568" y="2359152"/>
            <a:ext cx="182880" cy="0"/>
          </a:xfrm>
          <a:prstGeom prst="line">
            <a:avLst/>
          </a:prstGeom>
          <a:noFill/>
          <a:ln w="25400">
            <a:solidFill>
              <a:srgbClr val="02C39A"/>
            </a:solidFill>
            <a:prstDash val="solid"/>
          </a:ln>
        </p:spPr>
        <p:txBody>
          <a:bodyPr/>
          <a:lstStyle/>
          <a:p>
            <a:endParaRPr lang="en-GB"/>
          </a:p>
        </p:txBody>
      </p:sp>
      <p:sp>
        <p:nvSpPr>
          <p:cNvPr id="18" name="Text 14"/>
          <p:cNvSpPr/>
          <p:nvPr/>
        </p:nvSpPr>
        <p:spPr>
          <a:xfrm>
            <a:off x="3401568" y="2258568"/>
            <a:ext cx="201168" cy="201168"/>
          </a:xfrm>
          <a:prstGeom prst="rect">
            <a:avLst/>
          </a:prstGeom>
          <a:noFill/>
          <a:ln/>
        </p:spPr>
        <p:txBody>
          <a:bodyPr wrap="square" lIns="0" tIns="0" rIns="0" bIns="0" rtlCol="0" anchor="ctr"/>
          <a:lstStyle/>
          <a:p>
            <a:pPr marL="0" indent="0">
              <a:buNone/>
            </a:pPr>
            <a:r>
              <a:rPr lang="en-US" sz="1000" dirty="0">
                <a:solidFill>
                  <a:srgbClr val="02C39A"/>
                </a:solidFill>
              </a:rPr>
              <a:t>▶</a:t>
            </a:r>
            <a:endParaRPr lang="en-US" sz="1000" dirty="0"/>
          </a:p>
        </p:txBody>
      </p:sp>
      <p:sp>
        <p:nvSpPr>
          <p:cNvPr id="19" name="Shape 15"/>
          <p:cNvSpPr/>
          <p:nvPr/>
        </p:nvSpPr>
        <p:spPr>
          <a:xfrm>
            <a:off x="3584448" y="932688"/>
            <a:ext cx="1463040" cy="2944368"/>
          </a:xfrm>
          <a:prstGeom prst="roundRect">
            <a:avLst>
              <a:gd name="adj" fmla="val 6250"/>
            </a:avLst>
          </a:prstGeom>
          <a:solidFill>
            <a:srgbClr val="1C7293">
              <a:alpha val="72000"/>
            </a:srgbClr>
          </a:solidFill>
          <a:ln/>
        </p:spPr>
        <p:txBody>
          <a:bodyPr/>
          <a:lstStyle/>
          <a:p>
            <a:endParaRPr lang="en-GB"/>
          </a:p>
        </p:txBody>
      </p:sp>
      <p:sp>
        <p:nvSpPr>
          <p:cNvPr id="20" name="Shape 16"/>
          <p:cNvSpPr/>
          <p:nvPr/>
        </p:nvSpPr>
        <p:spPr>
          <a:xfrm>
            <a:off x="3639312" y="987552"/>
            <a:ext cx="365760" cy="365760"/>
          </a:xfrm>
          <a:prstGeom prst="ellipse">
            <a:avLst/>
          </a:prstGeom>
          <a:solidFill>
            <a:srgbClr val="02C39A"/>
          </a:solidFill>
          <a:ln/>
        </p:spPr>
        <p:txBody>
          <a:bodyPr/>
          <a:lstStyle/>
          <a:p>
            <a:endParaRPr lang="en-GB"/>
          </a:p>
        </p:txBody>
      </p:sp>
      <p:sp>
        <p:nvSpPr>
          <p:cNvPr id="21" name="Text 17"/>
          <p:cNvSpPr/>
          <p:nvPr/>
        </p:nvSpPr>
        <p:spPr>
          <a:xfrm>
            <a:off x="3639312" y="987552"/>
            <a:ext cx="365760" cy="365760"/>
          </a:xfrm>
          <a:prstGeom prst="rect">
            <a:avLst/>
          </a:prstGeom>
          <a:noFill/>
          <a:ln/>
        </p:spPr>
        <p:txBody>
          <a:bodyPr wrap="square" lIns="0" tIns="0" rIns="0" bIns="0" rtlCol="0" anchor="ctr"/>
          <a:lstStyle/>
          <a:p>
            <a:pPr marL="0" indent="0" algn="ctr">
              <a:buNone/>
            </a:pPr>
            <a:r>
              <a:rPr lang="en-US" sz="1200" b="1" dirty="0">
                <a:solidFill>
                  <a:srgbClr val="21295C"/>
                </a:solidFill>
              </a:rPr>
              <a:t>3</a:t>
            </a:r>
            <a:endParaRPr lang="en-US" sz="1200" dirty="0"/>
          </a:p>
        </p:txBody>
      </p:sp>
      <p:pic>
        <p:nvPicPr>
          <p:cNvPr id="22" name="Image 2" descr="preencoded.png"/>
          <p:cNvPicPr>
            <a:picLocks noChangeAspect="1"/>
          </p:cNvPicPr>
          <p:nvPr/>
        </p:nvPicPr>
        <p:blipFill>
          <a:blip r:embed="rId5"/>
          <a:stretch>
            <a:fillRect/>
          </a:stretch>
        </p:blipFill>
        <p:spPr>
          <a:xfrm>
            <a:off x="4023360" y="1078992"/>
            <a:ext cx="594360" cy="594360"/>
          </a:xfrm>
          <a:prstGeom prst="rect">
            <a:avLst/>
          </a:prstGeom>
        </p:spPr>
      </p:pic>
      <p:sp>
        <p:nvSpPr>
          <p:cNvPr id="23" name="Text 18"/>
          <p:cNvSpPr/>
          <p:nvPr/>
        </p:nvSpPr>
        <p:spPr>
          <a:xfrm>
            <a:off x="3639312" y="1764792"/>
            <a:ext cx="1353312" cy="7772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Weight &amp;</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Combine</a:t>
            </a:r>
            <a:endParaRPr lang="en-US" sz="1200" dirty="0"/>
          </a:p>
        </p:txBody>
      </p:sp>
      <p:sp>
        <p:nvSpPr>
          <p:cNvPr id="24" name="Text 19"/>
          <p:cNvSpPr/>
          <p:nvPr/>
        </p:nvSpPr>
        <p:spPr>
          <a:xfrm>
            <a:off x="3639312" y="2624328"/>
            <a:ext cx="1353312" cy="438912"/>
          </a:xfrm>
          <a:prstGeom prst="rect">
            <a:avLst/>
          </a:prstGeom>
          <a:noFill/>
          <a:ln/>
        </p:spPr>
        <p:txBody>
          <a:bodyPr wrap="square" rtlCol="0" anchor="ctr"/>
          <a:lstStyle/>
          <a:p>
            <a:pPr marL="0" indent="0" algn="ctr">
              <a:buNone/>
            </a:pPr>
            <a:r>
              <a:rPr lang="en-US" sz="1000" i="1" dirty="0">
                <a:solidFill>
                  <a:srgbClr val="02C39A"/>
                </a:solidFill>
                <a:latin typeface="Calibri" pitchFamily="34" charset="0"/>
                <a:ea typeface="Calibri" pitchFamily="34" charset="-122"/>
                <a:cs typeface="Calibri" pitchFamily="34" charset="-120"/>
              </a:rPr>
              <a:t>AHP method</a:t>
            </a:r>
            <a:endParaRPr lang="en-US" sz="1000" dirty="0"/>
          </a:p>
        </p:txBody>
      </p:sp>
      <p:sp>
        <p:nvSpPr>
          <p:cNvPr id="25" name="Shape 20"/>
          <p:cNvSpPr/>
          <p:nvPr/>
        </p:nvSpPr>
        <p:spPr>
          <a:xfrm>
            <a:off x="5065776" y="2359152"/>
            <a:ext cx="182880" cy="0"/>
          </a:xfrm>
          <a:prstGeom prst="line">
            <a:avLst/>
          </a:prstGeom>
          <a:noFill/>
          <a:ln w="25400">
            <a:solidFill>
              <a:srgbClr val="02C39A"/>
            </a:solidFill>
            <a:prstDash val="solid"/>
          </a:ln>
        </p:spPr>
        <p:txBody>
          <a:bodyPr/>
          <a:lstStyle/>
          <a:p>
            <a:endParaRPr lang="en-GB"/>
          </a:p>
        </p:txBody>
      </p:sp>
      <p:sp>
        <p:nvSpPr>
          <p:cNvPr id="26" name="Text 21"/>
          <p:cNvSpPr/>
          <p:nvPr/>
        </p:nvSpPr>
        <p:spPr>
          <a:xfrm>
            <a:off x="5065776" y="2258568"/>
            <a:ext cx="201168" cy="201168"/>
          </a:xfrm>
          <a:prstGeom prst="rect">
            <a:avLst/>
          </a:prstGeom>
          <a:noFill/>
          <a:ln/>
        </p:spPr>
        <p:txBody>
          <a:bodyPr wrap="square" lIns="0" tIns="0" rIns="0" bIns="0" rtlCol="0" anchor="ctr"/>
          <a:lstStyle/>
          <a:p>
            <a:pPr marL="0" indent="0">
              <a:buNone/>
            </a:pPr>
            <a:r>
              <a:rPr lang="en-US" sz="1000" dirty="0">
                <a:solidFill>
                  <a:srgbClr val="02C39A"/>
                </a:solidFill>
              </a:rPr>
              <a:t>▶</a:t>
            </a:r>
            <a:endParaRPr lang="en-US" sz="1000" dirty="0"/>
          </a:p>
        </p:txBody>
      </p:sp>
      <p:sp>
        <p:nvSpPr>
          <p:cNvPr id="27" name="Shape 22"/>
          <p:cNvSpPr/>
          <p:nvPr/>
        </p:nvSpPr>
        <p:spPr>
          <a:xfrm>
            <a:off x="5248656" y="932688"/>
            <a:ext cx="1463040" cy="2944368"/>
          </a:xfrm>
          <a:prstGeom prst="roundRect">
            <a:avLst>
              <a:gd name="adj" fmla="val 6250"/>
            </a:avLst>
          </a:prstGeom>
          <a:solidFill>
            <a:srgbClr val="1C7293">
              <a:alpha val="72000"/>
            </a:srgbClr>
          </a:solidFill>
          <a:ln/>
        </p:spPr>
        <p:txBody>
          <a:bodyPr/>
          <a:lstStyle/>
          <a:p>
            <a:endParaRPr lang="en-GB"/>
          </a:p>
        </p:txBody>
      </p:sp>
      <p:sp>
        <p:nvSpPr>
          <p:cNvPr id="28" name="Shape 23"/>
          <p:cNvSpPr/>
          <p:nvPr/>
        </p:nvSpPr>
        <p:spPr>
          <a:xfrm>
            <a:off x="5303520" y="987552"/>
            <a:ext cx="365760" cy="365760"/>
          </a:xfrm>
          <a:prstGeom prst="ellipse">
            <a:avLst/>
          </a:prstGeom>
          <a:solidFill>
            <a:srgbClr val="02C39A"/>
          </a:solidFill>
          <a:ln/>
        </p:spPr>
        <p:txBody>
          <a:bodyPr/>
          <a:lstStyle/>
          <a:p>
            <a:endParaRPr lang="en-GB"/>
          </a:p>
        </p:txBody>
      </p:sp>
      <p:sp>
        <p:nvSpPr>
          <p:cNvPr id="29" name="Text 24"/>
          <p:cNvSpPr/>
          <p:nvPr/>
        </p:nvSpPr>
        <p:spPr>
          <a:xfrm>
            <a:off x="5303520" y="987552"/>
            <a:ext cx="365760" cy="365760"/>
          </a:xfrm>
          <a:prstGeom prst="rect">
            <a:avLst/>
          </a:prstGeom>
          <a:noFill/>
          <a:ln/>
        </p:spPr>
        <p:txBody>
          <a:bodyPr wrap="square" lIns="0" tIns="0" rIns="0" bIns="0" rtlCol="0" anchor="ctr"/>
          <a:lstStyle/>
          <a:p>
            <a:pPr marL="0" indent="0" algn="ctr">
              <a:buNone/>
            </a:pPr>
            <a:r>
              <a:rPr lang="en-US" sz="1200" b="1" dirty="0">
                <a:solidFill>
                  <a:srgbClr val="21295C"/>
                </a:solidFill>
              </a:rPr>
              <a:t>4</a:t>
            </a:r>
            <a:endParaRPr lang="en-US" sz="1200" dirty="0"/>
          </a:p>
        </p:txBody>
      </p:sp>
      <p:pic>
        <p:nvPicPr>
          <p:cNvPr id="30" name="Image 3" descr="preencoded.png"/>
          <p:cNvPicPr>
            <a:picLocks noChangeAspect="1"/>
          </p:cNvPicPr>
          <p:nvPr/>
        </p:nvPicPr>
        <p:blipFill>
          <a:blip r:embed="rId6"/>
          <a:stretch>
            <a:fillRect/>
          </a:stretch>
        </p:blipFill>
        <p:spPr>
          <a:xfrm>
            <a:off x="5687568" y="1078992"/>
            <a:ext cx="594360" cy="594360"/>
          </a:xfrm>
          <a:prstGeom prst="rect">
            <a:avLst/>
          </a:prstGeom>
        </p:spPr>
      </p:pic>
      <p:sp>
        <p:nvSpPr>
          <p:cNvPr id="31" name="Text 25"/>
          <p:cNvSpPr/>
          <p:nvPr/>
        </p:nvSpPr>
        <p:spPr>
          <a:xfrm>
            <a:off x="5303520" y="1764792"/>
            <a:ext cx="1353312" cy="7772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Risk</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Surface</a:t>
            </a:r>
            <a:endParaRPr lang="en-US" sz="1200" dirty="0"/>
          </a:p>
        </p:txBody>
      </p:sp>
      <p:sp>
        <p:nvSpPr>
          <p:cNvPr id="32" name="Text 26"/>
          <p:cNvSpPr/>
          <p:nvPr/>
        </p:nvSpPr>
        <p:spPr>
          <a:xfrm>
            <a:off x="5303520" y="2624328"/>
            <a:ext cx="1353312" cy="438912"/>
          </a:xfrm>
          <a:prstGeom prst="rect">
            <a:avLst/>
          </a:prstGeom>
          <a:noFill/>
          <a:ln/>
        </p:spPr>
        <p:txBody>
          <a:bodyPr wrap="square" rtlCol="0" anchor="ctr"/>
          <a:lstStyle/>
          <a:p>
            <a:pPr marL="0" indent="0" algn="ctr">
              <a:buNone/>
            </a:pPr>
            <a:r>
              <a:rPr lang="en-US" sz="1000" i="1" dirty="0">
                <a:solidFill>
                  <a:srgbClr val="02C39A"/>
                </a:solidFill>
                <a:latin typeface="Calibri" pitchFamily="34" charset="0"/>
                <a:ea typeface="Calibri" pitchFamily="34" charset="-122"/>
                <a:cs typeface="Calibri" pitchFamily="34" charset="-120"/>
              </a:rPr>
              <a:t>One combined map</a:t>
            </a:r>
            <a:endParaRPr lang="en-US" sz="1000" dirty="0"/>
          </a:p>
        </p:txBody>
      </p:sp>
      <p:sp>
        <p:nvSpPr>
          <p:cNvPr id="33" name="Shape 27"/>
          <p:cNvSpPr/>
          <p:nvPr/>
        </p:nvSpPr>
        <p:spPr>
          <a:xfrm>
            <a:off x="6729984" y="2359152"/>
            <a:ext cx="182880" cy="0"/>
          </a:xfrm>
          <a:prstGeom prst="line">
            <a:avLst/>
          </a:prstGeom>
          <a:noFill/>
          <a:ln w="25400">
            <a:solidFill>
              <a:srgbClr val="02C39A"/>
            </a:solidFill>
            <a:prstDash val="solid"/>
          </a:ln>
        </p:spPr>
        <p:txBody>
          <a:bodyPr/>
          <a:lstStyle/>
          <a:p>
            <a:endParaRPr lang="en-GB"/>
          </a:p>
        </p:txBody>
      </p:sp>
      <p:sp>
        <p:nvSpPr>
          <p:cNvPr id="34" name="Text 28"/>
          <p:cNvSpPr/>
          <p:nvPr/>
        </p:nvSpPr>
        <p:spPr>
          <a:xfrm>
            <a:off x="6729984" y="2258568"/>
            <a:ext cx="201168" cy="201168"/>
          </a:xfrm>
          <a:prstGeom prst="rect">
            <a:avLst/>
          </a:prstGeom>
          <a:noFill/>
          <a:ln/>
        </p:spPr>
        <p:txBody>
          <a:bodyPr wrap="square" lIns="0" tIns="0" rIns="0" bIns="0" rtlCol="0" anchor="ctr"/>
          <a:lstStyle/>
          <a:p>
            <a:pPr marL="0" indent="0">
              <a:buNone/>
            </a:pPr>
            <a:r>
              <a:rPr lang="en-US" sz="1000" dirty="0">
                <a:solidFill>
                  <a:srgbClr val="02C39A"/>
                </a:solidFill>
              </a:rPr>
              <a:t>▶</a:t>
            </a:r>
            <a:endParaRPr lang="en-US" sz="1000" dirty="0"/>
          </a:p>
        </p:txBody>
      </p:sp>
      <p:sp>
        <p:nvSpPr>
          <p:cNvPr id="35" name="Shape 29"/>
          <p:cNvSpPr/>
          <p:nvPr/>
        </p:nvSpPr>
        <p:spPr>
          <a:xfrm>
            <a:off x="6912864" y="932688"/>
            <a:ext cx="1463040" cy="2944368"/>
          </a:xfrm>
          <a:prstGeom prst="roundRect">
            <a:avLst>
              <a:gd name="adj" fmla="val 6250"/>
            </a:avLst>
          </a:prstGeom>
          <a:solidFill>
            <a:srgbClr val="1C7293">
              <a:alpha val="72000"/>
            </a:srgbClr>
          </a:solidFill>
          <a:ln/>
        </p:spPr>
        <p:txBody>
          <a:bodyPr/>
          <a:lstStyle/>
          <a:p>
            <a:endParaRPr lang="en-GB"/>
          </a:p>
        </p:txBody>
      </p:sp>
      <p:sp>
        <p:nvSpPr>
          <p:cNvPr id="36" name="Shape 30"/>
          <p:cNvSpPr/>
          <p:nvPr/>
        </p:nvSpPr>
        <p:spPr>
          <a:xfrm>
            <a:off x="6967728" y="987552"/>
            <a:ext cx="365760" cy="365760"/>
          </a:xfrm>
          <a:prstGeom prst="ellipse">
            <a:avLst/>
          </a:prstGeom>
          <a:solidFill>
            <a:srgbClr val="02C39A"/>
          </a:solidFill>
          <a:ln/>
        </p:spPr>
        <p:txBody>
          <a:bodyPr/>
          <a:lstStyle/>
          <a:p>
            <a:endParaRPr lang="en-GB"/>
          </a:p>
        </p:txBody>
      </p:sp>
      <p:sp>
        <p:nvSpPr>
          <p:cNvPr id="37" name="Text 31"/>
          <p:cNvSpPr/>
          <p:nvPr/>
        </p:nvSpPr>
        <p:spPr>
          <a:xfrm>
            <a:off x="6967728" y="987552"/>
            <a:ext cx="365760" cy="365760"/>
          </a:xfrm>
          <a:prstGeom prst="rect">
            <a:avLst/>
          </a:prstGeom>
          <a:noFill/>
          <a:ln/>
        </p:spPr>
        <p:txBody>
          <a:bodyPr wrap="square" lIns="0" tIns="0" rIns="0" bIns="0" rtlCol="0" anchor="ctr"/>
          <a:lstStyle/>
          <a:p>
            <a:pPr marL="0" indent="0" algn="ctr">
              <a:buNone/>
            </a:pPr>
            <a:r>
              <a:rPr lang="en-US" sz="1200" b="1" dirty="0">
                <a:solidFill>
                  <a:srgbClr val="21295C"/>
                </a:solidFill>
              </a:rPr>
              <a:t>5</a:t>
            </a:r>
            <a:endParaRPr lang="en-US" sz="1200" dirty="0"/>
          </a:p>
        </p:txBody>
      </p:sp>
      <p:pic>
        <p:nvPicPr>
          <p:cNvPr id="38" name="Image 4" descr="preencoded.png"/>
          <p:cNvPicPr>
            <a:picLocks noChangeAspect="1"/>
          </p:cNvPicPr>
          <p:nvPr/>
        </p:nvPicPr>
        <p:blipFill>
          <a:blip r:embed="rId7"/>
          <a:stretch>
            <a:fillRect/>
          </a:stretch>
        </p:blipFill>
        <p:spPr>
          <a:xfrm>
            <a:off x="7351776" y="1078992"/>
            <a:ext cx="594360" cy="594360"/>
          </a:xfrm>
          <a:prstGeom prst="rect">
            <a:avLst/>
          </a:prstGeom>
        </p:spPr>
      </p:pic>
      <p:sp>
        <p:nvSpPr>
          <p:cNvPr id="39" name="Text 32"/>
          <p:cNvSpPr/>
          <p:nvPr/>
        </p:nvSpPr>
        <p:spPr>
          <a:xfrm>
            <a:off x="6967728" y="1764792"/>
            <a:ext cx="1353312" cy="77724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Find</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Clusters</a:t>
            </a:r>
            <a:endParaRPr lang="en-US" sz="1200" dirty="0"/>
          </a:p>
        </p:txBody>
      </p:sp>
      <p:sp>
        <p:nvSpPr>
          <p:cNvPr id="40" name="Text 33"/>
          <p:cNvSpPr/>
          <p:nvPr/>
        </p:nvSpPr>
        <p:spPr>
          <a:xfrm>
            <a:off x="6967728" y="2624328"/>
            <a:ext cx="1353312" cy="438912"/>
          </a:xfrm>
          <a:prstGeom prst="rect">
            <a:avLst/>
          </a:prstGeom>
          <a:noFill/>
          <a:ln/>
        </p:spPr>
        <p:txBody>
          <a:bodyPr wrap="square" rtlCol="0" anchor="ctr"/>
          <a:lstStyle/>
          <a:p>
            <a:pPr marL="0" indent="0" algn="ctr">
              <a:buNone/>
            </a:pPr>
            <a:r>
              <a:rPr lang="en-US" sz="1000" i="1" dirty="0">
                <a:solidFill>
                  <a:srgbClr val="02C39A"/>
                </a:solidFill>
                <a:latin typeface="Calibri" pitchFamily="34" charset="0"/>
                <a:ea typeface="Calibri" pitchFamily="34" charset="-122"/>
                <a:cs typeface="Calibri" pitchFamily="34" charset="-120"/>
              </a:rPr>
              <a:t>Getis-Ord Gi*</a:t>
            </a:r>
            <a:endParaRPr lang="en-US" sz="1000" dirty="0"/>
          </a:p>
        </p:txBody>
      </p:sp>
      <p:sp>
        <p:nvSpPr>
          <p:cNvPr id="41" name="Shape 34"/>
          <p:cNvSpPr/>
          <p:nvPr/>
        </p:nvSpPr>
        <p:spPr>
          <a:xfrm>
            <a:off x="256032" y="4005072"/>
            <a:ext cx="8631936" cy="804672"/>
          </a:xfrm>
          <a:prstGeom prst="roundRect">
            <a:avLst>
              <a:gd name="adj" fmla="val 9091"/>
            </a:avLst>
          </a:prstGeom>
          <a:solidFill>
            <a:srgbClr val="1C7293">
              <a:alpha val="40000"/>
            </a:srgbClr>
          </a:solidFill>
          <a:ln/>
        </p:spPr>
        <p:txBody>
          <a:bodyPr/>
          <a:lstStyle/>
          <a:p>
            <a:endParaRPr lang="en-GB"/>
          </a:p>
        </p:txBody>
      </p:sp>
      <p:sp>
        <p:nvSpPr>
          <p:cNvPr id="42" name="Text 35"/>
          <p:cNvSpPr/>
          <p:nvPr/>
        </p:nvSpPr>
        <p:spPr>
          <a:xfrm>
            <a:off x="365760" y="4041648"/>
            <a:ext cx="8412480" cy="731520"/>
          </a:xfrm>
          <a:prstGeom prst="rect">
            <a:avLst/>
          </a:prstGeom>
          <a:noFill/>
          <a:ln/>
        </p:spPr>
        <p:txBody>
          <a:bodyPr wrap="square" rtlCol="0" anchor="ctr"/>
          <a:lstStyle/>
          <a:p>
            <a:pPr marL="0" indent="0" algn="ctr">
              <a:buNone/>
            </a:pPr>
            <a:r>
              <a:rPr lang="en-US" sz="1350" i="1" dirty="0">
                <a:solidFill>
                  <a:srgbClr val="02C39A"/>
                </a:solidFill>
                <a:latin typeface="Calibri" pitchFamily="34" charset="0"/>
                <a:ea typeface="Calibri" pitchFamily="34" charset="-122"/>
                <a:cs typeface="Calibri" pitchFamily="34" charset="-120"/>
              </a:rPr>
              <a:t>From individual measurements  →  a spatial picture of where risk is high, why, and how it clusters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BFD"/>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Four Ways to Look at Pollution Risk</a:t>
            </a:r>
            <a:endParaRPr lang="en-US" sz="3000" dirty="0"/>
          </a:p>
        </p:txBody>
      </p:sp>
      <p:sp>
        <p:nvSpPr>
          <p:cNvPr id="3" name="Shape 1"/>
          <p:cNvSpPr/>
          <p:nvPr/>
        </p:nvSpPr>
        <p:spPr>
          <a:xfrm>
            <a:off x="274320" y="886968"/>
            <a:ext cx="4160520" cy="1938528"/>
          </a:xfrm>
          <a:prstGeom prst="roundRect">
            <a:avLst>
              <a:gd name="adj" fmla="val 4717"/>
            </a:avLst>
          </a:prstGeom>
          <a:solidFill>
            <a:srgbClr val="FFFFFF"/>
          </a:solidFill>
          <a:ln/>
          <a:effectLst>
            <a:outerShdw blurRad="101600" dist="38100" dir="2700000" algn="bl" rotWithShape="0">
              <a:srgbClr val="000000">
                <a:alpha val="11000"/>
              </a:srgbClr>
            </a:outerShdw>
          </a:effectLst>
        </p:spPr>
        <p:txBody>
          <a:bodyPr/>
          <a:lstStyle/>
          <a:p>
            <a:endParaRPr lang="en-GB"/>
          </a:p>
        </p:txBody>
      </p:sp>
      <p:sp>
        <p:nvSpPr>
          <p:cNvPr id="4" name="Shape 2"/>
          <p:cNvSpPr/>
          <p:nvPr/>
        </p:nvSpPr>
        <p:spPr>
          <a:xfrm>
            <a:off x="438912" y="1463040"/>
            <a:ext cx="658368" cy="658368"/>
          </a:xfrm>
          <a:prstGeom prst="ellipse">
            <a:avLst/>
          </a:prstGeom>
          <a:solidFill>
            <a:srgbClr val="065A82"/>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512064" y="1536192"/>
            <a:ext cx="512064" cy="512064"/>
          </a:xfrm>
          <a:prstGeom prst="rect">
            <a:avLst/>
          </a:prstGeom>
        </p:spPr>
      </p:pic>
      <p:sp>
        <p:nvSpPr>
          <p:cNvPr id="6" name="Text 3"/>
          <p:cNvSpPr/>
          <p:nvPr/>
        </p:nvSpPr>
        <p:spPr>
          <a:xfrm>
            <a:off x="1261872" y="987552"/>
            <a:ext cx="3035808" cy="411480"/>
          </a:xfrm>
          <a:prstGeom prst="rect">
            <a:avLst/>
          </a:prstGeom>
          <a:noFill/>
          <a:ln/>
        </p:spPr>
        <p:txBody>
          <a:bodyPr wrap="square"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Total Pollution Load</a:t>
            </a:r>
            <a:endParaRPr lang="en-US" sz="1350" dirty="0"/>
          </a:p>
        </p:txBody>
      </p:sp>
      <p:sp>
        <p:nvSpPr>
          <p:cNvPr id="7" name="Text 4"/>
          <p:cNvSpPr/>
          <p:nvPr/>
        </p:nvSpPr>
        <p:spPr>
          <a:xfrm>
            <a:off x="1261872" y="1399032"/>
            <a:ext cx="3035808" cy="292608"/>
          </a:xfrm>
          <a:prstGeom prst="rect">
            <a:avLst/>
          </a:prstGeom>
          <a:noFill/>
          <a:ln/>
        </p:spPr>
        <p:txBody>
          <a:bodyPr wrap="square" rtlCol="0" anchor="ctr"/>
          <a:lstStyle/>
          <a:p>
            <a:pPr marL="0" indent="0">
              <a:buNone/>
            </a:pPr>
            <a:r>
              <a:rPr lang="en-US" sz="1050" i="1" dirty="0">
                <a:solidFill>
                  <a:srgbClr val="065A82"/>
                </a:solidFill>
                <a:latin typeface="Calibri" pitchFamily="34" charset="0"/>
                <a:ea typeface="Calibri" pitchFamily="34" charset="-122"/>
                <a:cs typeface="Calibri" pitchFamily="34" charset="-120"/>
              </a:rPr>
              <a:t>How much pollution is there?</a:t>
            </a:r>
            <a:endParaRPr lang="en-US" sz="1050" dirty="0"/>
          </a:p>
        </p:txBody>
      </p:sp>
      <p:sp>
        <p:nvSpPr>
          <p:cNvPr id="8" name="Text 5"/>
          <p:cNvSpPr/>
          <p:nvPr/>
        </p:nvSpPr>
        <p:spPr>
          <a:xfrm>
            <a:off x="438912" y="1856232"/>
            <a:ext cx="3858768" cy="868680"/>
          </a:xfrm>
          <a:prstGeom prst="rect">
            <a:avLst/>
          </a:prstGeom>
          <a:noFill/>
          <a:ln/>
        </p:spPr>
        <p:txBody>
          <a:bodyPr wrap="square" rtlCol="0" anchor="ctr"/>
          <a:lstStyle/>
          <a:p>
            <a:pPr marL="0" indent="0">
              <a:buNone/>
            </a:pPr>
            <a:r>
              <a:rPr lang="en-US" sz="1050" dirty="0">
                <a:solidFill>
                  <a:srgbClr val="5B7A8A"/>
                </a:solidFill>
                <a:latin typeface="Calibri" pitchFamily="34" charset="0"/>
                <a:ea typeface="Calibri" pitchFamily="34" charset="-122"/>
                <a:cs typeface="Calibri" pitchFamily="34" charset="-120"/>
              </a:rPr>
              <a:t>The total amount of cadmium, lead, and nickel at each station, combined into one score. A simple but essential starting point — how heavy is the overall burden at this location?</a:t>
            </a:r>
            <a:endParaRPr lang="en-US" sz="1050" dirty="0"/>
          </a:p>
        </p:txBody>
      </p:sp>
      <p:sp>
        <p:nvSpPr>
          <p:cNvPr id="9" name="Shape 6"/>
          <p:cNvSpPr/>
          <p:nvPr/>
        </p:nvSpPr>
        <p:spPr>
          <a:xfrm>
            <a:off x="4663440" y="896112"/>
            <a:ext cx="4160520" cy="1938528"/>
          </a:xfrm>
          <a:prstGeom prst="roundRect">
            <a:avLst>
              <a:gd name="adj" fmla="val 4717"/>
            </a:avLst>
          </a:prstGeom>
          <a:solidFill>
            <a:srgbClr val="FFFFFF"/>
          </a:solidFill>
          <a:ln/>
          <a:effectLst>
            <a:outerShdw blurRad="101600" dist="38100" dir="2700000" algn="bl" rotWithShape="0">
              <a:srgbClr val="000000">
                <a:alpha val="11000"/>
              </a:srgbClr>
            </a:outerShdw>
          </a:effectLst>
        </p:spPr>
        <p:txBody>
          <a:bodyPr/>
          <a:lstStyle/>
          <a:p>
            <a:endParaRPr lang="en-GB"/>
          </a:p>
        </p:txBody>
      </p:sp>
      <p:sp>
        <p:nvSpPr>
          <p:cNvPr id="10" name="Shape 7"/>
          <p:cNvSpPr/>
          <p:nvPr/>
        </p:nvSpPr>
        <p:spPr>
          <a:xfrm>
            <a:off x="4828032" y="1463040"/>
            <a:ext cx="658368" cy="658368"/>
          </a:xfrm>
          <a:prstGeom prst="ellipse">
            <a:avLst/>
          </a:prstGeom>
          <a:solidFill>
            <a:srgbClr val="1C7293"/>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4901184" y="1536192"/>
            <a:ext cx="512064" cy="512064"/>
          </a:xfrm>
          <a:prstGeom prst="rect">
            <a:avLst/>
          </a:prstGeom>
        </p:spPr>
      </p:pic>
      <p:sp>
        <p:nvSpPr>
          <p:cNvPr id="12" name="Text 8"/>
          <p:cNvSpPr/>
          <p:nvPr/>
        </p:nvSpPr>
        <p:spPr>
          <a:xfrm>
            <a:off x="5650992" y="987552"/>
            <a:ext cx="3035808" cy="411480"/>
          </a:xfrm>
          <a:prstGeom prst="rect">
            <a:avLst/>
          </a:prstGeom>
          <a:noFill/>
          <a:ln/>
        </p:spPr>
        <p:txBody>
          <a:bodyPr wrap="square"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Bioavailability</a:t>
            </a:r>
            <a:endParaRPr lang="en-US" sz="1350" dirty="0"/>
          </a:p>
        </p:txBody>
      </p:sp>
      <p:sp>
        <p:nvSpPr>
          <p:cNvPr id="13" name="Text 9"/>
          <p:cNvSpPr/>
          <p:nvPr/>
        </p:nvSpPr>
        <p:spPr>
          <a:xfrm>
            <a:off x="5650992" y="1399032"/>
            <a:ext cx="3035808" cy="292608"/>
          </a:xfrm>
          <a:prstGeom prst="rect">
            <a:avLst/>
          </a:prstGeom>
          <a:noFill/>
          <a:ln/>
        </p:spPr>
        <p:txBody>
          <a:bodyPr wrap="square" rtlCol="0" anchor="ctr"/>
          <a:lstStyle/>
          <a:p>
            <a:pPr marL="0" indent="0">
              <a:buNone/>
            </a:pPr>
            <a:r>
              <a:rPr lang="en-US" sz="1050" i="1" dirty="0">
                <a:solidFill>
                  <a:srgbClr val="1C7293"/>
                </a:solidFill>
                <a:latin typeface="Calibri" pitchFamily="34" charset="0"/>
                <a:ea typeface="Calibri" pitchFamily="34" charset="-122"/>
                <a:cs typeface="Calibri" pitchFamily="34" charset="-120"/>
              </a:rPr>
              <a:t>How dangerous is it to living things?</a:t>
            </a:r>
            <a:endParaRPr lang="en-US" sz="1050" dirty="0"/>
          </a:p>
        </p:txBody>
      </p:sp>
      <p:sp>
        <p:nvSpPr>
          <p:cNvPr id="14" name="Text 10"/>
          <p:cNvSpPr/>
          <p:nvPr/>
        </p:nvSpPr>
        <p:spPr>
          <a:xfrm>
            <a:off x="4828032" y="1856232"/>
            <a:ext cx="3858768" cy="868680"/>
          </a:xfrm>
          <a:prstGeom prst="rect">
            <a:avLst/>
          </a:prstGeom>
          <a:noFill/>
          <a:ln/>
        </p:spPr>
        <p:txBody>
          <a:bodyPr wrap="square" rtlCol="0" anchor="ctr"/>
          <a:lstStyle/>
          <a:p>
            <a:pPr marL="0" indent="0">
              <a:buNone/>
            </a:pPr>
            <a:r>
              <a:rPr lang="en-US" sz="1050" dirty="0">
                <a:solidFill>
                  <a:srgbClr val="5B7A8A"/>
                </a:solidFill>
                <a:latin typeface="Calibri" pitchFamily="34" charset="0"/>
                <a:ea typeface="Calibri" pitchFamily="34" charset="-122"/>
                <a:cs typeface="Calibri" pitchFamily="34" charset="-120"/>
              </a:rPr>
              <a:t>Not all pollution in the water is equally harmful. Some metals are locked in forms that fish and insects cannot absorb. This index measures only the fraction that can actually enter the food chain.</a:t>
            </a:r>
            <a:endParaRPr lang="en-US" sz="1050" dirty="0"/>
          </a:p>
        </p:txBody>
      </p:sp>
      <p:sp>
        <p:nvSpPr>
          <p:cNvPr id="15" name="Shape 11"/>
          <p:cNvSpPr/>
          <p:nvPr/>
        </p:nvSpPr>
        <p:spPr>
          <a:xfrm>
            <a:off x="274320" y="2980944"/>
            <a:ext cx="4160520" cy="1938528"/>
          </a:xfrm>
          <a:prstGeom prst="roundRect">
            <a:avLst>
              <a:gd name="adj" fmla="val 4717"/>
            </a:avLst>
          </a:prstGeom>
          <a:solidFill>
            <a:srgbClr val="FFFFFF"/>
          </a:solidFill>
          <a:ln/>
          <a:effectLst>
            <a:outerShdw blurRad="101600" dist="38100" dir="2700000" algn="bl" rotWithShape="0">
              <a:srgbClr val="000000">
                <a:alpha val="11000"/>
              </a:srgbClr>
            </a:outerShdw>
          </a:effectLst>
        </p:spPr>
        <p:txBody>
          <a:bodyPr/>
          <a:lstStyle/>
          <a:p>
            <a:endParaRPr lang="en-GB"/>
          </a:p>
        </p:txBody>
      </p:sp>
      <p:sp>
        <p:nvSpPr>
          <p:cNvPr id="16" name="Shape 12"/>
          <p:cNvSpPr/>
          <p:nvPr/>
        </p:nvSpPr>
        <p:spPr>
          <a:xfrm>
            <a:off x="438912" y="3547872"/>
            <a:ext cx="658368" cy="658368"/>
          </a:xfrm>
          <a:prstGeom prst="ellipse">
            <a:avLst/>
          </a:prstGeom>
          <a:solidFill>
            <a:srgbClr val="B85042"/>
          </a:solidFill>
          <a:ln/>
        </p:spPr>
        <p:txBody>
          <a:bodyPr/>
          <a:lstStyle/>
          <a:p>
            <a:endParaRPr lang="en-GB"/>
          </a:p>
        </p:txBody>
      </p:sp>
      <p:pic>
        <p:nvPicPr>
          <p:cNvPr id="17" name="Image 2" descr="preencoded.png"/>
          <p:cNvPicPr>
            <a:picLocks noChangeAspect="1"/>
          </p:cNvPicPr>
          <p:nvPr/>
        </p:nvPicPr>
        <p:blipFill>
          <a:blip r:embed="rId5"/>
          <a:stretch>
            <a:fillRect/>
          </a:stretch>
        </p:blipFill>
        <p:spPr>
          <a:xfrm>
            <a:off x="512064" y="3621024"/>
            <a:ext cx="512064" cy="512064"/>
          </a:xfrm>
          <a:prstGeom prst="rect">
            <a:avLst/>
          </a:prstGeom>
        </p:spPr>
      </p:pic>
      <p:sp>
        <p:nvSpPr>
          <p:cNvPr id="18" name="Text 13"/>
          <p:cNvSpPr/>
          <p:nvPr/>
        </p:nvSpPr>
        <p:spPr>
          <a:xfrm>
            <a:off x="1261872" y="3072384"/>
            <a:ext cx="3035808" cy="411480"/>
          </a:xfrm>
          <a:prstGeom prst="rect">
            <a:avLst/>
          </a:prstGeom>
          <a:noFill/>
          <a:ln/>
        </p:spPr>
        <p:txBody>
          <a:bodyPr wrap="square"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Trend Over Time</a:t>
            </a:r>
            <a:endParaRPr lang="en-US" sz="1350" dirty="0"/>
          </a:p>
        </p:txBody>
      </p:sp>
      <p:sp>
        <p:nvSpPr>
          <p:cNvPr id="19" name="Text 14"/>
          <p:cNvSpPr/>
          <p:nvPr/>
        </p:nvSpPr>
        <p:spPr>
          <a:xfrm>
            <a:off x="1261872" y="3483864"/>
            <a:ext cx="3035808" cy="292608"/>
          </a:xfrm>
          <a:prstGeom prst="rect">
            <a:avLst/>
          </a:prstGeom>
          <a:noFill/>
          <a:ln/>
        </p:spPr>
        <p:txBody>
          <a:bodyPr wrap="square" rtlCol="0" anchor="ctr"/>
          <a:lstStyle/>
          <a:p>
            <a:pPr marL="0" indent="0">
              <a:buNone/>
            </a:pPr>
            <a:r>
              <a:rPr lang="en-US" sz="1050" i="1" dirty="0">
                <a:solidFill>
                  <a:srgbClr val="B85042"/>
                </a:solidFill>
                <a:latin typeface="Calibri" pitchFamily="34" charset="0"/>
                <a:ea typeface="Calibri" pitchFamily="34" charset="-122"/>
                <a:cs typeface="Calibri" pitchFamily="34" charset="-120"/>
              </a:rPr>
              <a:t>Is it getting better or worse?</a:t>
            </a:r>
            <a:endParaRPr lang="en-US" sz="1050" dirty="0"/>
          </a:p>
        </p:txBody>
      </p:sp>
      <p:sp>
        <p:nvSpPr>
          <p:cNvPr id="20" name="Text 15"/>
          <p:cNvSpPr/>
          <p:nvPr/>
        </p:nvSpPr>
        <p:spPr>
          <a:xfrm>
            <a:off x="438912" y="3941064"/>
            <a:ext cx="3858768" cy="868680"/>
          </a:xfrm>
          <a:prstGeom prst="rect">
            <a:avLst/>
          </a:prstGeom>
          <a:noFill/>
          <a:ln/>
        </p:spPr>
        <p:txBody>
          <a:bodyPr wrap="square" rtlCol="0" anchor="ctr"/>
          <a:lstStyle/>
          <a:p>
            <a:pPr marL="0" indent="0">
              <a:buNone/>
            </a:pPr>
            <a:r>
              <a:rPr lang="en-US" sz="1050" dirty="0">
                <a:solidFill>
                  <a:srgbClr val="5B7A8A"/>
                </a:solidFill>
                <a:latin typeface="Calibri" pitchFamily="34" charset="0"/>
                <a:ea typeface="Calibri" pitchFamily="34" charset="-122"/>
                <a:cs typeface="Calibri" pitchFamily="34" charset="-120"/>
              </a:rPr>
              <a:t>How did metal levels change from 2019 to 2023? A location with moderate pollution that is steadily getting worse needs attention sooner than one with higher levels that are stable or improving.</a:t>
            </a:r>
            <a:endParaRPr lang="en-US" sz="1050" dirty="0"/>
          </a:p>
        </p:txBody>
      </p:sp>
      <p:sp>
        <p:nvSpPr>
          <p:cNvPr id="21" name="Shape 16"/>
          <p:cNvSpPr/>
          <p:nvPr/>
        </p:nvSpPr>
        <p:spPr>
          <a:xfrm>
            <a:off x="4663440" y="2980944"/>
            <a:ext cx="4160520" cy="1938528"/>
          </a:xfrm>
          <a:prstGeom prst="roundRect">
            <a:avLst>
              <a:gd name="adj" fmla="val 4717"/>
            </a:avLst>
          </a:prstGeom>
          <a:solidFill>
            <a:srgbClr val="FFFFFF"/>
          </a:solidFill>
          <a:ln/>
          <a:effectLst>
            <a:outerShdw blurRad="101600" dist="38100" dir="2700000" algn="bl" rotWithShape="0">
              <a:srgbClr val="000000">
                <a:alpha val="11000"/>
              </a:srgbClr>
            </a:outerShdw>
          </a:effectLst>
        </p:spPr>
        <p:txBody>
          <a:bodyPr/>
          <a:lstStyle/>
          <a:p>
            <a:endParaRPr lang="en-GB"/>
          </a:p>
        </p:txBody>
      </p:sp>
      <p:sp>
        <p:nvSpPr>
          <p:cNvPr id="22" name="Shape 17"/>
          <p:cNvSpPr/>
          <p:nvPr/>
        </p:nvSpPr>
        <p:spPr>
          <a:xfrm>
            <a:off x="4828032" y="3547872"/>
            <a:ext cx="658368" cy="658368"/>
          </a:xfrm>
          <a:prstGeom prst="ellipse">
            <a:avLst/>
          </a:prstGeom>
          <a:solidFill>
            <a:srgbClr val="F0A500"/>
          </a:solidFill>
          <a:ln/>
        </p:spPr>
        <p:txBody>
          <a:bodyPr/>
          <a:lstStyle/>
          <a:p>
            <a:endParaRPr lang="en-GB"/>
          </a:p>
        </p:txBody>
      </p:sp>
      <p:pic>
        <p:nvPicPr>
          <p:cNvPr id="23" name="Image 3" descr="preencoded.png"/>
          <p:cNvPicPr>
            <a:picLocks noChangeAspect="1"/>
          </p:cNvPicPr>
          <p:nvPr/>
        </p:nvPicPr>
        <p:blipFill>
          <a:blip r:embed="rId6"/>
          <a:stretch>
            <a:fillRect/>
          </a:stretch>
        </p:blipFill>
        <p:spPr>
          <a:xfrm>
            <a:off x="4901184" y="3621024"/>
            <a:ext cx="512064" cy="512064"/>
          </a:xfrm>
          <a:prstGeom prst="rect">
            <a:avLst/>
          </a:prstGeom>
        </p:spPr>
      </p:pic>
      <p:sp>
        <p:nvSpPr>
          <p:cNvPr id="24" name="Text 18"/>
          <p:cNvSpPr/>
          <p:nvPr/>
        </p:nvSpPr>
        <p:spPr>
          <a:xfrm>
            <a:off x="5650992" y="3072384"/>
            <a:ext cx="3035808" cy="411480"/>
          </a:xfrm>
          <a:prstGeom prst="rect">
            <a:avLst/>
          </a:prstGeom>
          <a:noFill/>
          <a:ln/>
        </p:spPr>
        <p:txBody>
          <a:bodyPr wrap="square"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Regulatory Risk</a:t>
            </a:r>
            <a:endParaRPr lang="en-US" sz="1350" dirty="0"/>
          </a:p>
        </p:txBody>
      </p:sp>
      <p:sp>
        <p:nvSpPr>
          <p:cNvPr id="25" name="Text 19"/>
          <p:cNvSpPr/>
          <p:nvPr/>
        </p:nvSpPr>
        <p:spPr>
          <a:xfrm>
            <a:off x="5650992" y="3483864"/>
            <a:ext cx="3035808" cy="292608"/>
          </a:xfrm>
          <a:prstGeom prst="rect">
            <a:avLst/>
          </a:prstGeom>
          <a:noFill/>
          <a:ln/>
        </p:spPr>
        <p:txBody>
          <a:bodyPr wrap="square" rtlCol="0" anchor="ctr"/>
          <a:lstStyle/>
          <a:p>
            <a:pPr marL="0" indent="0">
              <a:buNone/>
            </a:pPr>
            <a:r>
              <a:rPr lang="en-US" sz="1050" i="1" dirty="0">
                <a:solidFill>
                  <a:srgbClr val="F0A500"/>
                </a:solidFill>
                <a:latin typeface="Calibri" pitchFamily="34" charset="0"/>
                <a:ea typeface="Calibri" pitchFamily="34" charset="-122"/>
                <a:cs typeface="Calibri" pitchFamily="34" charset="-120"/>
              </a:rPr>
              <a:t>How often are legal limits broken?  ·  Weight: 49%</a:t>
            </a:r>
            <a:endParaRPr lang="en-US" sz="1050" dirty="0"/>
          </a:p>
        </p:txBody>
      </p:sp>
      <p:sp>
        <p:nvSpPr>
          <p:cNvPr id="26" name="Text 20"/>
          <p:cNvSpPr/>
          <p:nvPr/>
        </p:nvSpPr>
        <p:spPr>
          <a:xfrm>
            <a:off x="4828032" y="3941064"/>
            <a:ext cx="3858768" cy="868680"/>
          </a:xfrm>
          <a:prstGeom prst="rect">
            <a:avLst/>
          </a:prstGeom>
          <a:noFill/>
          <a:ln/>
        </p:spPr>
        <p:txBody>
          <a:bodyPr wrap="square" rtlCol="0" anchor="ctr"/>
          <a:lstStyle/>
          <a:p>
            <a:pPr marL="0" indent="0">
              <a:buNone/>
            </a:pPr>
            <a:r>
              <a:rPr lang="en-US" sz="1050" dirty="0">
                <a:solidFill>
                  <a:srgbClr val="5B7A8A"/>
                </a:solidFill>
                <a:latin typeface="Calibri" pitchFamily="34" charset="0"/>
                <a:ea typeface="Calibri" pitchFamily="34" charset="-122"/>
                <a:cs typeface="Calibri" pitchFamily="34" charset="-120"/>
              </a:rPr>
              <a:t>How frequently and how severely does each station exceed the limits set by Serbian and EU law? This carries the highest weight — because breaking legal limits is what triggers management action.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6692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I Weighted the Four Indexes (AHP)</a:t>
            </a:r>
            <a:endParaRPr lang="en-US" sz="2800" dirty="0"/>
          </a:p>
        </p:txBody>
      </p:sp>
      <p:graphicFrame>
        <p:nvGraphicFramePr>
          <p:cNvPr id="3" name="Chart 0"/>
          <p:cNvGraphicFramePr/>
          <p:nvPr/>
        </p:nvGraphicFramePr>
        <p:xfrm>
          <a:off x="365760" y="914400"/>
          <a:ext cx="53035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943600" y="932688"/>
            <a:ext cx="2971800" cy="1115568"/>
          </a:xfrm>
          <a:prstGeom prst="roundRect">
            <a:avLst>
              <a:gd name="adj" fmla="val 6557"/>
            </a:avLst>
          </a:prstGeom>
          <a:solidFill>
            <a:srgbClr val="1C7293">
              <a:alpha val="50000"/>
            </a:srgbClr>
          </a:solidFill>
          <a:ln/>
        </p:spPr>
        <p:txBody>
          <a:bodyPr/>
          <a:lstStyle/>
          <a:p>
            <a:endParaRPr lang="en-GB"/>
          </a:p>
        </p:txBody>
      </p:sp>
      <p:sp>
        <p:nvSpPr>
          <p:cNvPr id="5" name="Text 2"/>
          <p:cNvSpPr/>
          <p:nvPr/>
        </p:nvSpPr>
        <p:spPr>
          <a:xfrm>
            <a:off x="6080760" y="1005840"/>
            <a:ext cx="2697480" cy="969264"/>
          </a:xfrm>
          <a:prstGeom prst="rect">
            <a:avLst/>
          </a:prstGeom>
          <a:noFill/>
          <a:ln/>
        </p:spPr>
        <p:txBody>
          <a:bodyPr wrap="square" rtlCol="0" anchor="ctr"/>
          <a:lstStyle/>
          <a:p>
            <a:pPr marL="0" indent="0">
              <a:buNone/>
            </a:pPr>
            <a:r>
              <a:rPr lang="en-US" sz="1050" dirty="0">
                <a:solidFill>
                  <a:srgbClr val="02C39A"/>
                </a:solidFill>
                <a:latin typeface="Calibri" pitchFamily="34" charset="0"/>
                <a:ea typeface="Calibri" pitchFamily="34" charset="-122"/>
                <a:cs typeface="Calibri" pitchFamily="34" charset="-120"/>
              </a:rPr>
              <a:t>Regulatory risk carries the most weight — breaking legal limits triggers real-world action.</a:t>
            </a:r>
            <a:endParaRPr lang="en-US" sz="1050" dirty="0"/>
          </a:p>
        </p:txBody>
      </p:sp>
      <p:sp>
        <p:nvSpPr>
          <p:cNvPr id="6" name="Shape 3"/>
          <p:cNvSpPr/>
          <p:nvPr/>
        </p:nvSpPr>
        <p:spPr>
          <a:xfrm>
            <a:off x="5943600" y="2194560"/>
            <a:ext cx="2971800" cy="1115568"/>
          </a:xfrm>
          <a:prstGeom prst="roundRect">
            <a:avLst>
              <a:gd name="adj" fmla="val 6557"/>
            </a:avLst>
          </a:prstGeom>
          <a:solidFill>
            <a:srgbClr val="1C7293">
              <a:alpha val="50000"/>
            </a:srgbClr>
          </a:solidFill>
          <a:ln/>
        </p:spPr>
        <p:txBody>
          <a:bodyPr/>
          <a:lstStyle/>
          <a:p>
            <a:endParaRPr lang="en-GB"/>
          </a:p>
        </p:txBody>
      </p:sp>
      <p:sp>
        <p:nvSpPr>
          <p:cNvPr id="7" name="Text 4"/>
          <p:cNvSpPr/>
          <p:nvPr/>
        </p:nvSpPr>
        <p:spPr>
          <a:xfrm>
            <a:off x="6080760" y="2267712"/>
            <a:ext cx="2697480" cy="969264"/>
          </a:xfrm>
          <a:prstGeom prst="rect">
            <a:avLst/>
          </a:prstGeom>
          <a:noFill/>
          <a:ln/>
        </p:spPr>
        <p:txBody>
          <a:bodyPr wrap="square" rtlCol="0" anchor="ctr"/>
          <a:lstStyle/>
          <a:p>
            <a:pPr marL="0" indent="0">
              <a:buNone/>
            </a:pPr>
            <a:r>
              <a:rPr lang="en-US" sz="1050" dirty="0">
                <a:solidFill>
                  <a:srgbClr val="E8F4F8"/>
                </a:solidFill>
                <a:latin typeface="Calibri" pitchFamily="34" charset="0"/>
                <a:ea typeface="Calibri" pitchFamily="34" charset="-122"/>
                <a:cs typeface="Calibri" pitchFamily="34" charset="-120"/>
              </a:rPr>
              <a:t>Consistency Ratio = 0.022</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(well below the 0.10 threshold)</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Weights are logical and valid.</a:t>
            </a:r>
            <a:endParaRPr lang="en-US" sz="1050" dirty="0"/>
          </a:p>
        </p:txBody>
      </p:sp>
      <p:sp>
        <p:nvSpPr>
          <p:cNvPr id="8" name="Shape 5"/>
          <p:cNvSpPr/>
          <p:nvPr/>
        </p:nvSpPr>
        <p:spPr>
          <a:xfrm>
            <a:off x="5943600" y="3456432"/>
            <a:ext cx="2971800" cy="1115568"/>
          </a:xfrm>
          <a:prstGeom prst="roundRect">
            <a:avLst>
              <a:gd name="adj" fmla="val 6557"/>
            </a:avLst>
          </a:prstGeom>
          <a:solidFill>
            <a:srgbClr val="1C7293">
              <a:alpha val="50000"/>
            </a:srgbClr>
          </a:solidFill>
          <a:ln/>
        </p:spPr>
        <p:txBody>
          <a:bodyPr/>
          <a:lstStyle/>
          <a:p>
            <a:endParaRPr lang="en-GB"/>
          </a:p>
        </p:txBody>
      </p:sp>
      <p:sp>
        <p:nvSpPr>
          <p:cNvPr id="9" name="Text 6"/>
          <p:cNvSpPr/>
          <p:nvPr/>
        </p:nvSpPr>
        <p:spPr>
          <a:xfrm>
            <a:off x="6080760" y="3529584"/>
            <a:ext cx="2697480" cy="969264"/>
          </a:xfrm>
          <a:prstGeom prst="rect">
            <a:avLst/>
          </a:prstGeom>
          <a:noFill/>
          <a:ln/>
        </p:spPr>
        <p:txBody>
          <a:bodyPr wrap="square" rtlCol="0" anchor="ctr"/>
          <a:lstStyle/>
          <a:p>
            <a:pPr marL="0" indent="0">
              <a:buNone/>
            </a:pPr>
            <a:r>
              <a:rPr lang="en-US" sz="1050" dirty="0">
                <a:solidFill>
                  <a:srgbClr val="E8F4F8"/>
                </a:solidFill>
                <a:latin typeface="Calibri" pitchFamily="34" charset="0"/>
                <a:ea typeface="Calibri" pitchFamily="34" charset="-122"/>
                <a:cs typeface="Calibri" pitchFamily="34" charset="-120"/>
              </a:rPr>
              <a:t>IIR = 0.239×TPI + 0.086×BI</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+ 0.153×IT + 0.522×RRI</a:t>
            </a:r>
            <a:endParaRPr lang="en-US" sz="1050" dirty="0"/>
          </a:p>
          <a:p>
            <a:pPr marL="0" indent="0">
              <a:buNone/>
            </a:pPr>
            <a:r>
              <a:rPr lang="en-US" sz="1050" dirty="0">
                <a:solidFill>
                  <a:srgbClr val="E8F4F8"/>
                </a:solidFill>
                <a:latin typeface="Calibri" pitchFamily="34" charset="0"/>
                <a:ea typeface="Calibri" pitchFamily="34" charset="-122"/>
                <a:cs typeface="Calibri" pitchFamily="34" charset="-120"/>
              </a:rPr>
              <a:t>Final risk score per station.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BFD"/>
        </a:solidFill>
        <a:effectLst/>
      </p:bgPr>
    </p:bg>
    <p:spTree>
      <p:nvGrpSpPr>
        <p:cNvPr id="1" name=""/>
        <p:cNvGrpSpPr/>
        <p:nvPr/>
      </p:nvGrpSpPr>
      <p:grpSpPr>
        <a:xfrm>
          <a:off x="0" y="0"/>
          <a:ext cx="0" cy="0"/>
          <a:chOff x="0" y="0"/>
          <a:chExt cx="0" cy="0"/>
        </a:xfrm>
      </p:grpSpPr>
      <p:sp>
        <p:nvSpPr>
          <p:cNvPr id="2" name="Shape 0"/>
          <p:cNvSpPr/>
          <p:nvPr/>
        </p:nvSpPr>
        <p:spPr>
          <a:xfrm>
            <a:off x="228600" y="109728"/>
            <a:ext cx="8686800" cy="566928"/>
          </a:xfrm>
          <a:prstGeom prst="roundRect">
            <a:avLst>
              <a:gd name="adj" fmla="val 11290"/>
            </a:avLst>
          </a:prstGeom>
          <a:solidFill>
            <a:srgbClr val="065A82"/>
          </a:solidFill>
          <a:ln/>
        </p:spPr>
        <p:txBody>
          <a:bodyPr/>
          <a:lstStyle/>
          <a:p>
            <a:endParaRPr lang="en-GB"/>
          </a:p>
        </p:txBody>
      </p:sp>
      <p:sp>
        <p:nvSpPr>
          <p:cNvPr id="3" name="Text 1"/>
          <p:cNvSpPr/>
          <p:nvPr/>
        </p:nvSpPr>
        <p:spPr>
          <a:xfrm>
            <a:off x="347472" y="109728"/>
            <a:ext cx="640080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Total Pollution Load</a:t>
            </a:r>
            <a:endParaRPr lang="en-US" sz="2100" dirty="0"/>
          </a:p>
        </p:txBody>
      </p:sp>
      <p:sp>
        <p:nvSpPr>
          <p:cNvPr id="4" name="Text 2"/>
          <p:cNvSpPr/>
          <p:nvPr/>
        </p:nvSpPr>
        <p:spPr>
          <a:xfrm>
            <a:off x="6858000" y="109728"/>
            <a:ext cx="1920240" cy="566928"/>
          </a:xfrm>
          <a:prstGeom prst="rect">
            <a:avLst/>
          </a:prstGeom>
          <a:noFill/>
          <a:ln/>
        </p:spPr>
        <p:txBody>
          <a:bodyPr wrap="square" lIns="0" tIns="0" rIns="0" bIns="0"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How much pollution is there?</a:t>
            </a:r>
            <a:endParaRPr lang="en-US" sz="1100" dirty="0"/>
          </a:p>
        </p:txBody>
      </p:sp>
      <p:pic>
        <p:nvPicPr>
          <p:cNvPr id="5" name="Image 0" descr="/mnt/user-data/uploads/Fig__2_Spatial_distribution_of_Total_Pollution_Intensity__TPI__in_Serbia.png"/>
          <p:cNvPicPr>
            <a:picLocks noChangeAspect="1"/>
          </p:cNvPicPr>
          <p:nvPr/>
        </p:nvPicPr>
        <p:blipFill>
          <a:blip r:embed="rId3"/>
          <a:stretch>
            <a:fillRect/>
          </a:stretch>
        </p:blipFill>
        <p:spPr>
          <a:xfrm>
            <a:off x="201168" y="758952"/>
            <a:ext cx="3383280" cy="4279392"/>
          </a:xfrm>
          <a:prstGeom prst="rect">
            <a:avLst/>
          </a:prstGeom>
        </p:spPr>
      </p:pic>
      <p:sp>
        <p:nvSpPr>
          <p:cNvPr id="6" name="Shape 3"/>
          <p:cNvSpPr/>
          <p:nvPr/>
        </p:nvSpPr>
        <p:spPr>
          <a:xfrm>
            <a:off x="3794760" y="758952"/>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7" name="Shape 4"/>
          <p:cNvSpPr/>
          <p:nvPr/>
        </p:nvSpPr>
        <p:spPr>
          <a:xfrm>
            <a:off x="3913632" y="896112"/>
            <a:ext cx="237744" cy="237744"/>
          </a:xfrm>
          <a:prstGeom prst="ellipse">
            <a:avLst/>
          </a:prstGeom>
          <a:solidFill>
            <a:srgbClr val="065A82"/>
          </a:solidFill>
          <a:ln/>
        </p:spPr>
        <p:txBody>
          <a:bodyPr/>
          <a:lstStyle/>
          <a:p>
            <a:endParaRPr lang="en-GB"/>
          </a:p>
        </p:txBody>
      </p:sp>
      <p:sp>
        <p:nvSpPr>
          <p:cNvPr id="8" name="Text 5"/>
          <p:cNvSpPr/>
          <p:nvPr/>
        </p:nvSpPr>
        <p:spPr>
          <a:xfrm>
            <a:off x="4279392" y="832104"/>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Five stations carry most of the burden</a:t>
            </a:r>
            <a:endParaRPr lang="en-US" sz="1200" dirty="0"/>
          </a:p>
        </p:txBody>
      </p:sp>
      <p:sp>
        <p:nvSpPr>
          <p:cNvPr id="9" name="Text 6"/>
          <p:cNvSpPr/>
          <p:nvPr/>
        </p:nvSpPr>
        <p:spPr>
          <a:xfrm>
            <a:off x="4279392" y="1338316"/>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Srbovo, Bujanovac, Novi Sad (gornja voda), Markovićevo, and Bačko Gradište lead the ranking. The gap between these five and the rest of the network is striking.</a:t>
            </a:r>
            <a:endParaRPr lang="en-US" sz="1050" dirty="0"/>
          </a:p>
        </p:txBody>
      </p:sp>
      <p:sp>
        <p:nvSpPr>
          <p:cNvPr id="10" name="Shape 7"/>
          <p:cNvSpPr/>
          <p:nvPr/>
        </p:nvSpPr>
        <p:spPr>
          <a:xfrm>
            <a:off x="3794760" y="2185416"/>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1" name="Shape 8"/>
          <p:cNvSpPr/>
          <p:nvPr/>
        </p:nvSpPr>
        <p:spPr>
          <a:xfrm>
            <a:off x="3913632" y="2322576"/>
            <a:ext cx="237744" cy="237744"/>
          </a:xfrm>
          <a:prstGeom prst="ellipse">
            <a:avLst/>
          </a:prstGeom>
          <a:solidFill>
            <a:srgbClr val="065A82"/>
          </a:solidFill>
          <a:ln/>
        </p:spPr>
        <p:txBody>
          <a:bodyPr/>
          <a:lstStyle/>
          <a:p>
            <a:endParaRPr lang="en-GB"/>
          </a:p>
        </p:txBody>
      </p:sp>
      <p:sp>
        <p:nvSpPr>
          <p:cNvPr id="12" name="Text 9"/>
          <p:cNvSpPr/>
          <p:nvPr/>
        </p:nvSpPr>
        <p:spPr>
          <a:xfrm>
            <a:off x="4279392" y="2258568"/>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Most stations are actually in good shape</a:t>
            </a:r>
            <a:endParaRPr lang="en-US" sz="1200" dirty="0"/>
          </a:p>
        </p:txBody>
      </p:sp>
      <p:sp>
        <p:nvSpPr>
          <p:cNvPr id="13" name="Text 10"/>
          <p:cNvSpPr/>
          <p:nvPr/>
        </p:nvSpPr>
        <p:spPr>
          <a:xfrm>
            <a:off x="4279392" y="2764780"/>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Most monitoring locations fall in the Very Low class. Heavy pollution is concentrated in just a few places, not spread evenly across the country.</a:t>
            </a:r>
            <a:endParaRPr lang="en-US" sz="1050" dirty="0"/>
          </a:p>
        </p:txBody>
      </p:sp>
      <p:sp>
        <p:nvSpPr>
          <p:cNvPr id="14" name="Shape 11"/>
          <p:cNvSpPr/>
          <p:nvPr/>
        </p:nvSpPr>
        <p:spPr>
          <a:xfrm>
            <a:off x="3794760" y="3611880"/>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5" name="Shape 12"/>
          <p:cNvSpPr/>
          <p:nvPr/>
        </p:nvSpPr>
        <p:spPr>
          <a:xfrm>
            <a:off x="3913632" y="3749040"/>
            <a:ext cx="237744" cy="237744"/>
          </a:xfrm>
          <a:prstGeom prst="ellipse">
            <a:avLst/>
          </a:prstGeom>
          <a:solidFill>
            <a:srgbClr val="065A82"/>
          </a:solidFill>
          <a:ln/>
        </p:spPr>
        <p:txBody>
          <a:bodyPr/>
          <a:lstStyle/>
          <a:p>
            <a:endParaRPr lang="en-GB"/>
          </a:p>
        </p:txBody>
      </p:sp>
      <p:sp>
        <p:nvSpPr>
          <p:cNvPr id="16" name="Text 13"/>
          <p:cNvSpPr/>
          <p:nvPr/>
        </p:nvSpPr>
        <p:spPr>
          <a:xfrm>
            <a:off x="4279392" y="3685032"/>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North and south tell very different stories</a:t>
            </a:r>
            <a:endParaRPr lang="en-US" sz="1200" dirty="0"/>
          </a:p>
        </p:txBody>
      </p:sp>
      <p:sp>
        <p:nvSpPr>
          <p:cNvPr id="17" name="Text 14"/>
          <p:cNvSpPr/>
          <p:nvPr/>
        </p:nvSpPr>
        <p:spPr>
          <a:xfrm>
            <a:off x="4279392" y="4191244"/>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High pollution levels in Vojvodina reflect diffuse agricultural loading. In the south, the highest values are linked to old mining areas.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BFD"/>
        </a:solidFill>
        <a:effectLst/>
      </p:bgPr>
    </p:bg>
    <p:spTree>
      <p:nvGrpSpPr>
        <p:cNvPr id="1" name=""/>
        <p:cNvGrpSpPr/>
        <p:nvPr/>
      </p:nvGrpSpPr>
      <p:grpSpPr>
        <a:xfrm>
          <a:off x="0" y="0"/>
          <a:ext cx="0" cy="0"/>
          <a:chOff x="0" y="0"/>
          <a:chExt cx="0" cy="0"/>
        </a:xfrm>
      </p:grpSpPr>
      <p:sp>
        <p:nvSpPr>
          <p:cNvPr id="2" name="Shape 0"/>
          <p:cNvSpPr/>
          <p:nvPr/>
        </p:nvSpPr>
        <p:spPr>
          <a:xfrm>
            <a:off x="228600" y="109728"/>
            <a:ext cx="8686800" cy="566928"/>
          </a:xfrm>
          <a:prstGeom prst="roundRect">
            <a:avLst>
              <a:gd name="adj" fmla="val 11290"/>
            </a:avLst>
          </a:prstGeom>
          <a:solidFill>
            <a:srgbClr val="1C7293"/>
          </a:solidFill>
          <a:ln/>
        </p:spPr>
        <p:txBody>
          <a:bodyPr/>
          <a:lstStyle/>
          <a:p>
            <a:endParaRPr lang="en-GB"/>
          </a:p>
        </p:txBody>
      </p:sp>
      <p:sp>
        <p:nvSpPr>
          <p:cNvPr id="3" name="Text 1"/>
          <p:cNvSpPr/>
          <p:nvPr/>
        </p:nvSpPr>
        <p:spPr>
          <a:xfrm>
            <a:off x="347472" y="109728"/>
            <a:ext cx="640080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Bioavailability</a:t>
            </a:r>
            <a:endParaRPr lang="en-US" sz="2100" dirty="0"/>
          </a:p>
        </p:txBody>
      </p:sp>
      <p:sp>
        <p:nvSpPr>
          <p:cNvPr id="4" name="Text 2"/>
          <p:cNvSpPr/>
          <p:nvPr/>
        </p:nvSpPr>
        <p:spPr>
          <a:xfrm>
            <a:off x="6858000" y="109728"/>
            <a:ext cx="1920240" cy="566928"/>
          </a:xfrm>
          <a:prstGeom prst="rect">
            <a:avLst/>
          </a:prstGeom>
          <a:noFill/>
          <a:ln/>
        </p:spPr>
        <p:txBody>
          <a:bodyPr wrap="square" lIns="0" tIns="0" rIns="0" bIns="0"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How dangerous is it to living things?</a:t>
            </a:r>
            <a:endParaRPr lang="en-US" sz="1100" dirty="0"/>
          </a:p>
        </p:txBody>
      </p:sp>
      <p:pic>
        <p:nvPicPr>
          <p:cNvPr id="5" name="Image 0" descr="/mnt/user-data/uploads/Fig__3_Spatial_distribution_of_Bioavailability_Index__BI__in_Serbia.png"/>
          <p:cNvPicPr>
            <a:picLocks noChangeAspect="1"/>
          </p:cNvPicPr>
          <p:nvPr/>
        </p:nvPicPr>
        <p:blipFill>
          <a:blip r:embed="rId3"/>
          <a:stretch>
            <a:fillRect/>
          </a:stretch>
        </p:blipFill>
        <p:spPr>
          <a:xfrm>
            <a:off x="201168" y="758952"/>
            <a:ext cx="3383280" cy="4279392"/>
          </a:xfrm>
          <a:prstGeom prst="rect">
            <a:avLst/>
          </a:prstGeom>
        </p:spPr>
      </p:pic>
      <p:sp>
        <p:nvSpPr>
          <p:cNvPr id="6" name="Shape 3"/>
          <p:cNvSpPr/>
          <p:nvPr/>
        </p:nvSpPr>
        <p:spPr>
          <a:xfrm>
            <a:off x="3794760" y="758952"/>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7" name="Shape 4"/>
          <p:cNvSpPr/>
          <p:nvPr/>
        </p:nvSpPr>
        <p:spPr>
          <a:xfrm>
            <a:off x="3913632" y="896112"/>
            <a:ext cx="237744" cy="237744"/>
          </a:xfrm>
          <a:prstGeom prst="ellipse">
            <a:avLst/>
          </a:prstGeom>
          <a:solidFill>
            <a:srgbClr val="1C7293"/>
          </a:solidFill>
          <a:ln/>
        </p:spPr>
        <p:txBody>
          <a:bodyPr/>
          <a:lstStyle/>
          <a:p>
            <a:endParaRPr lang="en-GB"/>
          </a:p>
        </p:txBody>
      </p:sp>
      <p:sp>
        <p:nvSpPr>
          <p:cNvPr id="8" name="Text 5"/>
          <p:cNvSpPr/>
          <p:nvPr/>
        </p:nvSpPr>
        <p:spPr>
          <a:xfrm>
            <a:off x="4279392" y="832104"/>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Smederevo stands far above the rest</a:t>
            </a:r>
            <a:endParaRPr lang="en-US" sz="1200" dirty="0"/>
          </a:p>
        </p:txBody>
      </p:sp>
      <p:sp>
        <p:nvSpPr>
          <p:cNvPr id="9" name="Text 6"/>
          <p:cNvSpPr/>
          <p:nvPr/>
        </p:nvSpPr>
        <p:spPr>
          <a:xfrm>
            <a:off x="4279392" y="1338316"/>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Top five: Smederevo, Mrtvine, Tekija, Trnski Odrovci, Bački Breg 2. Smederevo's score is in a league of its own — dissolved metal fractions released near the steel plant.</a:t>
            </a:r>
            <a:endParaRPr lang="en-US" sz="1050" dirty="0"/>
          </a:p>
        </p:txBody>
      </p:sp>
      <p:sp>
        <p:nvSpPr>
          <p:cNvPr id="10" name="Shape 7"/>
          <p:cNvSpPr/>
          <p:nvPr/>
        </p:nvSpPr>
        <p:spPr>
          <a:xfrm>
            <a:off x="3794760" y="2185416"/>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1" name="Shape 8"/>
          <p:cNvSpPr/>
          <p:nvPr/>
        </p:nvSpPr>
        <p:spPr>
          <a:xfrm>
            <a:off x="3913632" y="2322576"/>
            <a:ext cx="237744" cy="237744"/>
          </a:xfrm>
          <a:prstGeom prst="ellipse">
            <a:avLst/>
          </a:prstGeom>
          <a:solidFill>
            <a:srgbClr val="1C7293"/>
          </a:solidFill>
          <a:ln/>
        </p:spPr>
        <p:txBody>
          <a:bodyPr/>
          <a:lstStyle/>
          <a:p>
            <a:endParaRPr lang="en-GB"/>
          </a:p>
        </p:txBody>
      </p:sp>
      <p:sp>
        <p:nvSpPr>
          <p:cNvPr id="12" name="Text 9"/>
          <p:cNvSpPr/>
          <p:nvPr/>
        </p:nvSpPr>
        <p:spPr>
          <a:xfrm>
            <a:off x="4279392" y="2258568"/>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High load does not always mean high danger</a:t>
            </a:r>
            <a:endParaRPr lang="en-US" sz="1200" dirty="0"/>
          </a:p>
        </p:txBody>
      </p:sp>
      <p:sp>
        <p:nvSpPr>
          <p:cNvPr id="13" name="Text 10"/>
          <p:cNvSpPr/>
          <p:nvPr/>
        </p:nvSpPr>
        <p:spPr>
          <a:xfrm>
            <a:off x="4279392" y="2764780"/>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Several stations with moderate total pollution scores turn out to have high bioavailability. The total load alone would have missed this.</a:t>
            </a:r>
            <a:endParaRPr lang="en-US" sz="1050" dirty="0"/>
          </a:p>
        </p:txBody>
      </p:sp>
      <p:sp>
        <p:nvSpPr>
          <p:cNvPr id="14" name="Shape 11"/>
          <p:cNvSpPr/>
          <p:nvPr/>
        </p:nvSpPr>
        <p:spPr>
          <a:xfrm>
            <a:off x="3794760" y="3611880"/>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5" name="Shape 12"/>
          <p:cNvSpPr/>
          <p:nvPr/>
        </p:nvSpPr>
        <p:spPr>
          <a:xfrm>
            <a:off x="3913632" y="3749040"/>
            <a:ext cx="237744" cy="237744"/>
          </a:xfrm>
          <a:prstGeom prst="ellipse">
            <a:avLst/>
          </a:prstGeom>
          <a:solidFill>
            <a:srgbClr val="1C7293"/>
          </a:solidFill>
          <a:ln/>
        </p:spPr>
        <p:txBody>
          <a:bodyPr/>
          <a:lstStyle/>
          <a:p>
            <a:endParaRPr lang="en-GB"/>
          </a:p>
        </p:txBody>
      </p:sp>
      <p:sp>
        <p:nvSpPr>
          <p:cNvPr id="16" name="Text 13"/>
          <p:cNvSpPr/>
          <p:nvPr/>
        </p:nvSpPr>
        <p:spPr>
          <a:xfrm>
            <a:off x="4279392" y="3685032"/>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The Ibar catchment: contaminated but less ecologically active</a:t>
            </a:r>
            <a:endParaRPr lang="en-US" sz="1200" dirty="0"/>
          </a:p>
        </p:txBody>
      </p:sp>
      <p:sp>
        <p:nvSpPr>
          <p:cNvPr id="17" name="Text 14"/>
          <p:cNvSpPr/>
          <p:nvPr/>
        </p:nvSpPr>
        <p:spPr>
          <a:xfrm>
            <a:off x="4279392" y="4191244"/>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Despite elevated metal concentrations, most metals along the Ibar are locked in stable sediment-bound forms that organisms cannot easily take up.</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BFD"/>
        </a:solidFill>
        <a:effectLst/>
      </p:bgPr>
    </p:bg>
    <p:spTree>
      <p:nvGrpSpPr>
        <p:cNvPr id="1" name=""/>
        <p:cNvGrpSpPr/>
        <p:nvPr/>
      </p:nvGrpSpPr>
      <p:grpSpPr>
        <a:xfrm>
          <a:off x="0" y="0"/>
          <a:ext cx="0" cy="0"/>
          <a:chOff x="0" y="0"/>
          <a:chExt cx="0" cy="0"/>
        </a:xfrm>
      </p:grpSpPr>
      <p:sp>
        <p:nvSpPr>
          <p:cNvPr id="2" name="Shape 0"/>
          <p:cNvSpPr/>
          <p:nvPr/>
        </p:nvSpPr>
        <p:spPr>
          <a:xfrm>
            <a:off x="228600" y="109728"/>
            <a:ext cx="8686800" cy="566928"/>
          </a:xfrm>
          <a:prstGeom prst="roundRect">
            <a:avLst>
              <a:gd name="adj" fmla="val 11290"/>
            </a:avLst>
          </a:prstGeom>
          <a:solidFill>
            <a:srgbClr val="B85042"/>
          </a:solidFill>
          <a:ln/>
        </p:spPr>
        <p:txBody>
          <a:bodyPr/>
          <a:lstStyle/>
          <a:p>
            <a:endParaRPr lang="en-GB"/>
          </a:p>
        </p:txBody>
      </p:sp>
      <p:sp>
        <p:nvSpPr>
          <p:cNvPr id="3" name="Text 1"/>
          <p:cNvSpPr/>
          <p:nvPr/>
        </p:nvSpPr>
        <p:spPr>
          <a:xfrm>
            <a:off x="347472" y="109728"/>
            <a:ext cx="640080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Trend Over Time</a:t>
            </a:r>
            <a:endParaRPr lang="en-US" sz="2100" dirty="0"/>
          </a:p>
        </p:txBody>
      </p:sp>
      <p:sp>
        <p:nvSpPr>
          <p:cNvPr id="4" name="Text 2"/>
          <p:cNvSpPr/>
          <p:nvPr/>
        </p:nvSpPr>
        <p:spPr>
          <a:xfrm>
            <a:off x="6858000" y="109728"/>
            <a:ext cx="1920240" cy="566928"/>
          </a:xfrm>
          <a:prstGeom prst="rect">
            <a:avLst/>
          </a:prstGeom>
          <a:noFill/>
          <a:ln/>
        </p:spPr>
        <p:txBody>
          <a:bodyPr wrap="square" lIns="0" tIns="0" rIns="0" bIns="0"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Is pollution getting better or worse?</a:t>
            </a:r>
            <a:endParaRPr lang="en-US" sz="1100" dirty="0"/>
          </a:p>
        </p:txBody>
      </p:sp>
      <p:pic>
        <p:nvPicPr>
          <p:cNvPr id="5" name="Image 0" descr="/mnt/user-data/uploads/Fig__4_Spatial_distribution_of_Temporal_Trends_Index__IT__in_Serbia.png"/>
          <p:cNvPicPr>
            <a:picLocks noChangeAspect="1"/>
          </p:cNvPicPr>
          <p:nvPr/>
        </p:nvPicPr>
        <p:blipFill>
          <a:blip r:embed="rId3"/>
          <a:stretch>
            <a:fillRect/>
          </a:stretch>
        </p:blipFill>
        <p:spPr>
          <a:xfrm>
            <a:off x="201168" y="758952"/>
            <a:ext cx="3383280" cy="4279392"/>
          </a:xfrm>
          <a:prstGeom prst="rect">
            <a:avLst/>
          </a:prstGeom>
        </p:spPr>
      </p:pic>
      <p:sp>
        <p:nvSpPr>
          <p:cNvPr id="6" name="Shape 3"/>
          <p:cNvSpPr/>
          <p:nvPr/>
        </p:nvSpPr>
        <p:spPr>
          <a:xfrm>
            <a:off x="3794760" y="758952"/>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7" name="Shape 4"/>
          <p:cNvSpPr/>
          <p:nvPr/>
        </p:nvSpPr>
        <p:spPr>
          <a:xfrm>
            <a:off x="3913632" y="896112"/>
            <a:ext cx="237744" cy="237744"/>
          </a:xfrm>
          <a:prstGeom prst="ellipse">
            <a:avLst/>
          </a:prstGeom>
          <a:solidFill>
            <a:srgbClr val="B85042"/>
          </a:solidFill>
          <a:ln/>
        </p:spPr>
        <p:txBody>
          <a:bodyPr/>
          <a:lstStyle/>
          <a:p>
            <a:endParaRPr lang="en-GB"/>
          </a:p>
        </p:txBody>
      </p:sp>
      <p:sp>
        <p:nvSpPr>
          <p:cNvPr id="8" name="Text 5"/>
          <p:cNvSpPr/>
          <p:nvPr/>
        </p:nvSpPr>
        <p:spPr>
          <a:xfrm>
            <a:off x="4279392" y="832104"/>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The Ibar valley shows the strongest negative trend</a:t>
            </a:r>
            <a:endParaRPr lang="en-US" sz="1200" dirty="0"/>
          </a:p>
        </p:txBody>
      </p:sp>
      <p:sp>
        <p:nvSpPr>
          <p:cNvPr id="9" name="Text 6"/>
          <p:cNvSpPr/>
          <p:nvPr/>
        </p:nvSpPr>
        <p:spPr>
          <a:xfrm>
            <a:off x="4279392" y="1338316"/>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Kraljevo (Ibar), Mojsinje, and Raska (Ibar) show the strongest negative trends, followed by Bagrdan and Maskare. All five showed acceptable levels in 2019. By 2023, the situation had changed significantly.</a:t>
            </a:r>
            <a:endParaRPr lang="en-US" sz="1050" dirty="0"/>
          </a:p>
        </p:txBody>
      </p:sp>
      <p:sp>
        <p:nvSpPr>
          <p:cNvPr id="10" name="Shape 7"/>
          <p:cNvSpPr/>
          <p:nvPr/>
        </p:nvSpPr>
        <p:spPr>
          <a:xfrm>
            <a:off x="3794760" y="2185416"/>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1" name="Shape 8"/>
          <p:cNvSpPr/>
          <p:nvPr/>
        </p:nvSpPr>
        <p:spPr>
          <a:xfrm>
            <a:off x="3913632" y="2322576"/>
            <a:ext cx="237744" cy="237744"/>
          </a:xfrm>
          <a:prstGeom prst="ellipse">
            <a:avLst/>
          </a:prstGeom>
          <a:solidFill>
            <a:srgbClr val="B85042"/>
          </a:solidFill>
          <a:ln/>
        </p:spPr>
        <p:txBody>
          <a:bodyPr/>
          <a:lstStyle/>
          <a:p>
            <a:endParaRPr lang="en-GB"/>
          </a:p>
        </p:txBody>
      </p:sp>
      <p:sp>
        <p:nvSpPr>
          <p:cNvPr id="12" name="Text 9"/>
          <p:cNvSpPr/>
          <p:nvPr/>
        </p:nvSpPr>
        <p:spPr>
          <a:xfrm>
            <a:off x="4279392" y="2258568"/>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Srbovo is the one clear success story</a:t>
            </a:r>
            <a:endParaRPr lang="en-US" sz="1200" dirty="0"/>
          </a:p>
        </p:txBody>
      </p:sp>
      <p:sp>
        <p:nvSpPr>
          <p:cNvPr id="13" name="Text 10"/>
          <p:cNvSpPr/>
          <p:nvPr/>
        </p:nvSpPr>
        <p:spPr>
          <a:xfrm>
            <a:off x="4279392" y="2764780"/>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Despite the highest total pollution load in the network, Srbovo is the only station with a Very Favorable trend. Concentrations are coming down.</a:t>
            </a:r>
            <a:endParaRPr lang="en-US" sz="1050" dirty="0"/>
          </a:p>
        </p:txBody>
      </p:sp>
      <p:sp>
        <p:nvSpPr>
          <p:cNvPr id="14" name="Shape 11"/>
          <p:cNvSpPr/>
          <p:nvPr/>
        </p:nvSpPr>
        <p:spPr>
          <a:xfrm>
            <a:off x="3794760" y="3611880"/>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5" name="Shape 12"/>
          <p:cNvSpPr/>
          <p:nvPr/>
        </p:nvSpPr>
        <p:spPr>
          <a:xfrm>
            <a:off x="3913632" y="3749040"/>
            <a:ext cx="237744" cy="237744"/>
          </a:xfrm>
          <a:prstGeom prst="ellipse">
            <a:avLst/>
          </a:prstGeom>
          <a:solidFill>
            <a:srgbClr val="B85042"/>
          </a:solidFill>
          <a:ln/>
        </p:spPr>
        <p:txBody>
          <a:bodyPr/>
          <a:lstStyle/>
          <a:p>
            <a:endParaRPr lang="en-GB"/>
          </a:p>
        </p:txBody>
      </p:sp>
      <p:sp>
        <p:nvSpPr>
          <p:cNvPr id="16" name="Text 13"/>
          <p:cNvSpPr/>
          <p:nvPr/>
        </p:nvSpPr>
        <p:spPr>
          <a:xfrm>
            <a:off x="4279392" y="3685032"/>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Most of the network is holding steady</a:t>
            </a:r>
            <a:endParaRPr lang="en-US" sz="1200" dirty="0"/>
          </a:p>
        </p:txBody>
      </p:sp>
      <p:sp>
        <p:nvSpPr>
          <p:cNvPr id="17" name="Text 14"/>
          <p:cNvSpPr/>
          <p:nvPr/>
        </p:nvSpPr>
        <p:spPr>
          <a:xfrm>
            <a:off x="4279392" y="4191244"/>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More than half of all stations show moderate or favorable trends. The problem is not country-wide — it is concentrated in specific locations.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BFD"/>
        </a:solidFill>
        <a:effectLst/>
      </p:bgPr>
    </p:bg>
    <p:spTree>
      <p:nvGrpSpPr>
        <p:cNvPr id="1" name=""/>
        <p:cNvGrpSpPr/>
        <p:nvPr/>
      </p:nvGrpSpPr>
      <p:grpSpPr>
        <a:xfrm>
          <a:off x="0" y="0"/>
          <a:ext cx="0" cy="0"/>
          <a:chOff x="0" y="0"/>
          <a:chExt cx="0" cy="0"/>
        </a:xfrm>
      </p:grpSpPr>
      <p:sp>
        <p:nvSpPr>
          <p:cNvPr id="2" name="Shape 0"/>
          <p:cNvSpPr/>
          <p:nvPr/>
        </p:nvSpPr>
        <p:spPr>
          <a:xfrm>
            <a:off x="228600" y="109728"/>
            <a:ext cx="8686800" cy="566928"/>
          </a:xfrm>
          <a:prstGeom prst="roundRect">
            <a:avLst>
              <a:gd name="adj" fmla="val 11290"/>
            </a:avLst>
          </a:prstGeom>
          <a:solidFill>
            <a:srgbClr val="F0A500"/>
          </a:solidFill>
          <a:ln/>
        </p:spPr>
        <p:txBody>
          <a:bodyPr/>
          <a:lstStyle/>
          <a:p>
            <a:endParaRPr lang="en-GB"/>
          </a:p>
        </p:txBody>
      </p:sp>
      <p:sp>
        <p:nvSpPr>
          <p:cNvPr id="3" name="Text 1"/>
          <p:cNvSpPr/>
          <p:nvPr/>
        </p:nvSpPr>
        <p:spPr>
          <a:xfrm>
            <a:off x="347472" y="109728"/>
            <a:ext cx="640080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Regulatory Risk</a:t>
            </a:r>
            <a:endParaRPr lang="en-US" sz="2100" dirty="0"/>
          </a:p>
        </p:txBody>
      </p:sp>
      <p:sp>
        <p:nvSpPr>
          <p:cNvPr id="4" name="Text 2"/>
          <p:cNvSpPr/>
          <p:nvPr/>
        </p:nvSpPr>
        <p:spPr>
          <a:xfrm>
            <a:off x="6858000" y="109728"/>
            <a:ext cx="1920240" cy="566928"/>
          </a:xfrm>
          <a:prstGeom prst="rect">
            <a:avLst/>
          </a:prstGeom>
          <a:noFill/>
          <a:ln/>
        </p:spPr>
        <p:txBody>
          <a:bodyPr wrap="square" lIns="0" tIns="0" rIns="0" bIns="0"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How often are legal limits broken?  ·  Weight: 49%</a:t>
            </a:r>
            <a:endParaRPr lang="en-US" sz="1100" dirty="0"/>
          </a:p>
        </p:txBody>
      </p:sp>
      <p:pic>
        <p:nvPicPr>
          <p:cNvPr id="5" name="Image 0" descr="/mnt/user-data/uploads/Fig__5_Spatial_distribution_of_Regulatory_Risk_Index__RRI__in_Serbia.png"/>
          <p:cNvPicPr>
            <a:picLocks noChangeAspect="1"/>
          </p:cNvPicPr>
          <p:nvPr/>
        </p:nvPicPr>
        <p:blipFill>
          <a:blip r:embed="rId3"/>
          <a:stretch>
            <a:fillRect/>
          </a:stretch>
        </p:blipFill>
        <p:spPr>
          <a:xfrm>
            <a:off x="201168" y="758952"/>
            <a:ext cx="3383280" cy="4279392"/>
          </a:xfrm>
          <a:prstGeom prst="rect">
            <a:avLst/>
          </a:prstGeom>
        </p:spPr>
      </p:pic>
      <p:sp>
        <p:nvSpPr>
          <p:cNvPr id="6" name="Shape 3"/>
          <p:cNvSpPr/>
          <p:nvPr/>
        </p:nvSpPr>
        <p:spPr>
          <a:xfrm>
            <a:off x="3794760" y="758952"/>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7" name="Shape 4"/>
          <p:cNvSpPr/>
          <p:nvPr/>
        </p:nvSpPr>
        <p:spPr>
          <a:xfrm>
            <a:off x="3913632" y="896112"/>
            <a:ext cx="237744" cy="237744"/>
          </a:xfrm>
          <a:prstGeom prst="ellipse">
            <a:avLst/>
          </a:prstGeom>
          <a:solidFill>
            <a:srgbClr val="F0A500"/>
          </a:solidFill>
          <a:ln/>
        </p:spPr>
        <p:txBody>
          <a:bodyPr/>
          <a:lstStyle/>
          <a:p>
            <a:endParaRPr lang="en-GB"/>
          </a:p>
        </p:txBody>
      </p:sp>
      <p:sp>
        <p:nvSpPr>
          <p:cNvPr id="8" name="Text 5"/>
          <p:cNvSpPr/>
          <p:nvPr/>
        </p:nvSpPr>
        <p:spPr>
          <a:xfrm>
            <a:off x="4279392" y="832104"/>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Srbovo has broken legal limits in almost every cycle</a:t>
            </a:r>
            <a:endParaRPr lang="en-US" sz="1200" dirty="0"/>
          </a:p>
        </p:txBody>
      </p:sp>
      <p:sp>
        <p:nvSpPr>
          <p:cNvPr id="9" name="Text 6"/>
          <p:cNvSpPr/>
          <p:nvPr/>
        </p:nvSpPr>
        <p:spPr>
          <a:xfrm>
            <a:off x="4279392" y="1338316"/>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With a score of 1.0 — the maximum — Srbovo exceeded water quality standards in nearly every measurement over five years. Top five: Srbovo, Bačko Gradište, Raska (Ibar), Markovićevo, Jaša Tomić.</a:t>
            </a:r>
            <a:endParaRPr lang="en-US" sz="1050" dirty="0"/>
          </a:p>
        </p:txBody>
      </p:sp>
      <p:sp>
        <p:nvSpPr>
          <p:cNvPr id="10" name="Shape 7"/>
          <p:cNvSpPr/>
          <p:nvPr/>
        </p:nvSpPr>
        <p:spPr>
          <a:xfrm>
            <a:off x="3794760" y="2185416"/>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1" name="Shape 8"/>
          <p:cNvSpPr/>
          <p:nvPr/>
        </p:nvSpPr>
        <p:spPr>
          <a:xfrm>
            <a:off x="3913632" y="2322576"/>
            <a:ext cx="237744" cy="237744"/>
          </a:xfrm>
          <a:prstGeom prst="ellipse">
            <a:avLst/>
          </a:prstGeom>
          <a:solidFill>
            <a:srgbClr val="F0A500"/>
          </a:solidFill>
          <a:ln/>
        </p:spPr>
        <p:txBody>
          <a:bodyPr/>
          <a:lstStyle/>
          <a:p>
            <a:endParaRPr lang="en-GB"/>
          </a:p>
        </p:txBody>
      </p:sp>
      <p:sp>
        <p:nvSpPr>
          <p:cNvPr id="12" name="Text 9"/>
          <p:cNvSpPr/>
          <p:nvPr/>
        </p:nvSpPr>
        <p:spPr>
          <a:xfrm>
            <a:off x="4279392" y="2258568"/>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Two very different problems at the top</a:t>
            </a:r>
            <a:endParaRPr lang="en-US" sz="1200" dirty="0"/>
          </a:p>
        </p:txBody>
      </p:sp>
      <p:sp>
        <p:nvSpPr>
          <p:cNvPr id="13" name="Text 10"/>
          <p:cNvSpPr/>
          <p:nvPr/>
        </p:nvSpPr>
        <p:spPr>
          <a:xfrm>
            <a:off x="4279392" y="2764780"/>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Srbovo's exceedances come from mining on the Timok. Bačko Gradište has persistent nickel problems from the canal network in Vojvodina. Same score, very different problem.</a:t>
            </a:r>
            <a:endParaRPr lang="en-US" sz="1050" dirty="0"/>
          </a:p>
        </p:txBody>
      </p:sp>
      <p:sp>
        <p:nvSpPr>
          <p:cNvPr id="14" name="Shape 11"/>
          <p:cNvSpPr/>
          <p:nvPr/>
        </p:nvSpPr>
        <p:spPr>
          <a:xfrm>
            <a:off x="3794760" y="3611880"/>
            <a:ext cx="5138928" cy="1316736"/>
          </a:xfrm>
          <a:prstGeom prst="roundRect">
            <a:avLst>
              <a:gd name="adj" fmla="val 5556"/>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5" name="Shape 12"/>
          <p:cNvSpPr/>
          <p:nvPr/>
        </p:nvSpPr>
        <p:spPr>
          <a:xfrm>
            <a:off x="3913632" y="3749040"/>
            <a:ext cx="237744" cy="237744"/>
          </a:xfrm>
          <a:prstGeom prst="ellipse">
            <a:avLst/>
          </a:prstGeom>
          <a:solidFill>
            <a:srgbClr val="F0A500"/>
          </a:solidFill>
          <a:ln/>
        </p:spPr>
        <p:txBody>
          <a:bodyPr/>
          <a:lstStyle/>
          <a:p>
            <a:endParaRPr lang="en-GB"/>
          </a:p>
        </p:txBody>
      </p:sp>
      <p:sp>
        <p:nvSpPr>
          <p:cNvPr id="16" name="Text 13"/>
          <p:cNvSpPr/>
          <p:nvPr/>
        </p:nvSpPr>
        <p:spPr>
          <a:xfrm>
            <a:off x="4279392" y="3685032"/>
            <a:ext cx="4526280" cy="500360"/>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This index shapes the final risk map most strongly</a:t>
            </a:r>
            <a:endParaRPr lang="en-US" sz="1200" dirty="0"/>
          </a:p>
        </p:txBody>
      </p:sp>
      <p:sp>
        <p:nvSpPr>
          <p:cNvPr id="17" name="Text 14"/>
          <p:cNvSpPr/>
          <p:nvPr/>
        </p:nvSpPr>
        <p:spPr>
          <a:xfrm>
            <a:off x="4279392" y="4191244"/>
            <a:ext cx="4526280" cy="658368"/>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Because regulatory risk carries 49% of the AHP weight, where it is high, the combined risk score follows.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BFD"/>
        </a:solidFill>
        <a:effectLst/>
      </p:bgPr>
    </p:bg>
    <p:spTree>
      <p:nvGrpSpPr>
        <p:cNvPr id="1" name=""/>
        <p:cNvGrpSpPr/>
        <p:nvPr/>
      </p:nvGrpSpPr>
      <p:grpSpPr>
        <a:xfrm>
          <a:off x="0" y="0"/>
          <a:ext cx="0" cy="0"/>
          <a:chOff x="0" y="0"/>
          <a:chExt cx="0" cy="0"/>
        </a:xfrm>
      </p:grpSpPr>
      <p:sp>
        <p:nvSpPr>
          <p:cNvPr id="2" name="Shape 0"/>
          <p:cNvSpPr/>
          <p:nvPr/>
        </p:nvSpPr>
        <p:spPr>
          <a:xfrm>
            <a:off x="228600" y="109728"/>
            <a:ext cx="8686800" cy="566928"/>
          </a:xfrm>
          <a:prstGeom prst="roundRect">
            <a:avLst>
              <a:gd name="adj" fmla="val 11290"/>
            </a:avLst>
          </a:prstGeom>
          <a:solidFill>
            <a:srgbClr val="21295C"/>
          </a:solidFill>
          <a:ln/>
        </p:spPr>
        <p:txBody>
          <a:bodyPr/>
          <a:lstStyle/>
          <a:p>
            <a:endParaRPr lang="en-GB"/>
          </a:p>
        </p:txBody>
      </p:sp>
      <p:sp>
        <p:nvSpPr>
          <p:cNvPr id="3" name="Text 1"/>
          <p:cNvSpPr/>
          <p:nvPr/>
        </p:nvSpPr>
        <p:spPr>
          <a:xfrm>
            <a:off x="347472" y="109728"/>
            <a:ext cx="640080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Combined Risk Index (IIR)</a:t>
            </a:r>
            <a:endParaRPr lang="en-US" sz="2100" dirty="0"/>
          </a:p>
        </p:txBody>
      </p:sp>
      <p:sp>
        <p:nvSpPr>
          <p:cNvPr id="4" name="Text 2"/>
          <p:cNvSpPr/>
          <p:nvPr/>
        </p:nvSpPr>
        <p:spPr>
          <a:xfrm>
            <a:off x="6858000" y="109728"/>
            <a:ext cx="1920240" cy="566928"/>
          </a:xfrm>
          <a:prstGeom prst="rect">
            <a:avLst/>
          </a:prstGeom>
          <a:noFill/>
          <a:ln/>
        </p:spPr>
        <p:txBody>
          <a:bodyPr wrap="square" lIns="0" tIns="0" rIns="0" bIns="0" rtlCol="0" anchor="ctr"/>
          <a:lstStyle/>
          <a:p>
            <a:pPr marL="0" indent="0" algn="r">
              <a:buNone/>
            </a:pPr>
            <a:r>
              <a:rPr lang="en-US" sz="1100" i="1" dirty="0">
                <a:solidFill>
                  <a:srgbClr val="FFFFFF"/>
                </a:solidFill>
                <a:latin typeface="Calibri" pitchFamily="34" charset="0"/>
                <a:ea typeface="Calibri" pitchFamily="34" charset="-122"/>
                <a:cs typeface="Calibri" pitchFamily="34" charset="-120"/>
              </a:rPr>
              <a:t>All four factors together</a:t>
            </a:r>
            <a:endParaRPr lang="en-US" sz="1100" dirty="0"/>
          </a:p>
        </p:txBody>
      </p:sp>
      <p:pic>
        <p:nvPicPr>
          <p:cNvPr id="5" name="Image 0" descr="/mnt/user-data/uploads/Fig__6_Spatial_distribution_of_Integrated_Risk_Index__IIR__in_Serbia.png"/>
          <p:cNvPicPr>
            <a:picLocks noChangeAspect="1"/>
          </p:cNvPicPr>
          <p:nvPr/>
        </p:nvPicPr>
        <p:blipFill>
          <a:blip r:embed="rId3"/>
          <a:stretch>
            <a:fillRect/>
          </a:stretch>
        </p:blipFill>
        <p:spPr>
          <a:xfrm>
            <a:off x="201168" y="758952"/>
            <a:ext cx="3383280" cy="4279392"/>
          </a:xfrm>
          <a:prstGeom prst="rect">
            <a:avLst/>
          </a:prstGeom>
        </p:spPr>
      </p:pic>
      <p:sp>
        <p:nvSpPr>
          <p:cNvPr id="6" name="Shape 3"/>
          <p:cNvSpPr/>
          <p:nvPr/>
        </p:nvSpPr>
        <p:spPr>
          <a:xfrm>
            <a:off x="3794760" y="758952"/>
            <a:ext cx="5138928" cy="960120"/>
          </a:xfrm>
          <a:prstGeom prst="roundRect">
            <a:avLst>
              <a:gd name="adj" fmla="val 7619"/>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7" name="Shape 4"/>
          <p:cNvSpPr/>
          <p:nvPr/>
        </p:nvSpPr>
        <p:spPr>
          <a:xfrm>
            <a:off x="3913632" y="896112"/>
            <a:ext cx="237744" cy="237744"/>
          </a:xfrm>
          <a:prstGeom prst="ellipse">
            <a:avLst/>
          </a:prstGeom>
          <a:solidFill>
            <a:srgbClr val="21295C"/>
          </a:solidFill>
          <a:ln/>
        </p:spPr>
        <p:txBody>
          <a:bodyPr/>
          <a:lstStyle/>
          <a:p>
            <a:endParaRPr lang="en-GB"/>
          </a:p>
        </p:txBody>
      </p:sp>
      <p:sp>
        <p:nvSpPr>
          <p:cNvPr id="8" name="Text 5"/>
          <p:cNvSpPr/>
          <p:nvPr/>
        </p:nvSpPr>
        <p:spPr>
          <a:xfrm>
            <a:off x="4279392" y="832104"/>
            <a:ext cx="4526280" cy="364846"/>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This is the central result of the whole analysis</a:t>
            </a:r>
            <a:endParaRPr lang="en-US" sz="1200" dirty="0"/>
          </a:p>
        </p:txBody>
      </p:sp>
      <p:sp>
        <p:nvSpPr>
          <p:cNvPr id="9" name="Text 6"/>
          <p:cNvSpPr/>
          <p:nvPr/>
        </p:nvSpPr>
        <p:spPr>
          <a:xfrm>
            <a:off x="4279392" y="1181405"/>
            <a:ext cx="4526280" cy="480060"/>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The final combined risk map — a single map that combines pollution load, ecological relevance, temporal behavior, and regulatory pressure.</a:t>
            </a:r>
            <a:endParaRPr lang="en-US" sz="1050" dirty="0"/>
          </a:p>
        </p:txBody>
      </p:sp>
      <p:sp>
        <p:nvSpPr>
          <p:cNvPr id="10" name="Shape 7"/>
          <p:cNvSpPr/>
          <p:nvPr/>
        </p:nvSpPr>
        <p:spPr>
          <a:xfrm>
            <a:off x="3794760" y="1828800"/>
            <a:ext cx="5138928" cy="960120"/>
          </a:xfrm>
          <a:prstGeom prst="roundRect">
            <a:avLst>
              <a:gd name="adj" fmla="val 7619"/>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1" name="Shape 8"/>
          <p:cNvSpPr/>
          <p:nvPr/>
        </p:nvSpPr>
        <p:spPr>
          <a:xfrm>
            <a:off x="3913632" y="1965960"/>
            <a:ext cx="237744" cy="237744"/>
          </a:xfrm>
          <a:prstGeom prst="ellipse">
            <a:avLst/>
          </a:prstGeom>
          <a:solidFill>
            <a:srgbClr val="21295C"/>
          </a:solidFill>
          <a:ln/>
        </p:spPr>
        <p:txBody>
          <a:bodyPr/>
          <a:lstStyle/>
          <a:p>
            <a:endParaRPr lang="en-GB"/>
          </a:p>
        </p:txBody>
      </p:sp>
      <p:sp>
        <p:nvSpPr>
          <p:cNvPr id="12" name="Text 9"/>
          <p:cNvSpPr/>
          <p:nvPr/>
        </p:nvSpPr>
        <p:spPr>
          <a:xfrm>
            <a:off x="4279392" y="1901952"/>
            <a:ext cx="4526280" cy="364846"/>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Most of Serbia appears low-risk</a:t>
            </a:r>
            <a:endParaRPr lang="en-US" sz="1200" dirty="0"/>
          </a:p>
        </p:txBody>
      </p:sp>
      <p:sp>
        <p:nvSpPr>
          <p:cNvPr id="13" name="Text 10"/>
          <p:cNvSpPr/>
          <p:nvPr/>
        </p:nvSpPr>
        <p:spPr>
          <a:xfrm>
            <a:off x="4279392" y="2251253"/>
            <a:ext cx="4526280" cy="480060"/>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A small number of locations clearly emerge as priority areas — and each one got there for a different reason.</a:t>
            </a:r>
            <a:endParaRPr lang="en-US" sz="1050" dirty="0"/>
          </a:p>
        </p:txBody>
      </p:sp>
      <p:sp>
        <p:nvSpPr>
          <p:cNvPr id="14" name="Shape 11"/>
          <p:cNvSpPr/>
          <p:nvPr/>
        </p:nvSpPr>
        <p:spPr>
          <a:xfrm>
            <a:off x="3794760" y="2898648"/>
            <a:ext cx="5138928" cy="960120"/>
          </a:xfrm>
          <a:prstGeom prst="roundRect">
            <a:avLst>
              <a:gd name="adj" fmla="val 7619"/>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5" name="Shape 12"/>
          <p:cNvSpPr/>
          <p:nvPr/>
        </p:nvSpPr>
        <p:spPr>
          <a:xfrm>
            <a:off x="3913632" y="3035808"/>
            <a:ext cx="237744" cy="237744"/>
          </a:xfrm>
          <a:prstGeom prst="ellipse">
            <a:avLst/>
          </a:prstGeom>
          <a:solidFill>
            <a:srgbClr val="21295C"/>
          </a:solidFill>
          <a:ln/>
        </p:spPr>
        <p:txBody>
          <a:bodyPr/>
          <a:lstStyle/>
          <a:p>
            <a:endParaRPr lang="en-GB"/>
          </a:p>
        </p:txBody>
      </p:sp>
      <p:sp>
        <p:nvSpPr>
          <p:cNvPr id="16" name="Text 13"/>
          <p:cNvSpPr/>
          <p:nvPr/>
        </p:nvSpPr>
        <p:spPr>
          <a:xfrm>
            <a:off x="4279392" y="2971800"/>
            <a:ext cx="4526280" cy="364846"/>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Each high-risk station got there a different way</a:t>
            </a:r>
            <a:endParaRPr lang="en-US" sz="1200" dirty="0"/>
          </a:p>
        </p:txBody>
      </p:sp>
      <p:sp>
        <p:nvSpPr>
          <p:cNvPr id="17" name="Text 14"/>
          <p:cNvSpPr/>
          <p:nvPr/>
        </p:nvSpPr>
        <p:spPr>
          <a:xfrm>
            <a:off x="4279392" y="3321101"/>
            <a:ext cx="4526280" cy="480060"/>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Srbovo through mining and regulatory exceedances. Raska through a worsening trend. Smederevo through bioavailability.</a:t>
            </a:r>
            <a:endParaRPr lang="en-US" sz="1050" dirty="0"/>
          </a:p>
        </p:txBody>
      </p:sp>
      <p:sp>
        <p:nvSpPr>
          <p:cNvPr id="18" name="Shape 15"/>
          <p:cNvSpPr/>
          <p:nvPr/>
        </p:nvSpPr>
        <p:spPr>
          <a:xfrm>
            <a:off x="3794760" y="3968496"/>
            <a:ext cx="5138928" cy="960120"/>
          </a:xfrm>
          <a:prstGeom prst="roundRect">
            <a:avLst>
              <a:gd name="adj" fmla="val 7619"/>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9" name="Shape 16"/>
          <p:cNvSpPr/>
          <p:nvPr/>
        </p:nvSpPr>
        <p:spPr>
          <a:xfrm>
            <a:off x="3913632" y="4105656"/>
            <a:ext cx="237744" cy="237744"/>
          </a:xfrm>
          <a:prstGeom prst="ellipse">
            <a:avLst/>
          </a:prstGeom>
          <a:solidFill>
            <a:srgbClr val="21295C"/>
          </a:solidFill>
          <a:ln/>
        </p:spPr>
        <p:txBody>
          <a:bodyPr/>
          <a:lstStyle/>
          <a:p>
            <a:endParaRPr lang="en-GB"/>
          </a:p>
        </p:txBody>
      </p:sp>
      <p:sp>
        <p:nvSpPr>
          <p:cNvPr id="20" name="Text 17"/>
          <p:cNvSpPr/>
          <p:nvPr/>
        </p:nvSpPr>
        <p:spPr>
          <a:xfrm>
            <a:off x="4279392" y="4041648"/>
            <a:ext cx="4526280" cy="364846"/>
          </a:xfrm>
          <a:prstGeom prst="rect">
            <a:avLst/>
          </a:prstGeom>
          <a:noFill/>
          <a:ln/>
        </p:spPr>
        <p:txBody>
          <a:bodyPr wrap="square" rtlCol="0" anchor="ctr"/>
          <a:lstStyle/>
          <a:p>
            <a:pPr marL="0" indent="0">
              <a:buNone/>
            </a:pPr>
            <a:r>
              <a:rPr lang="en-US" sz="1200" b="1" dirty="0">
                <a:solidFill>
                  <a:srgbClr val="21295C"/>
                </a:solidFill>
                <a:latin typeface="Cambria" pitchFamily="34" charset="0"/>
                <a:ea typeface="Cambria" pitchFamily="34" charset="-122"/>
                <a:cs typeface="Cambria" pitchFamily="34" charset="-120"/>
              </a:rPr>
              <a:t>Something no single index could have shown</a:t>
            </a:r>
            <a:endParaRPr lang="en-US" sz="1200" dirty="0"/>
          </a:p>
        </p:txBody>
      </p:sp>
      <p:sp>
        <p:nvSpPr>
          <p:cNvPr id="21" name="Text 18"/>
          <p:cNvSpPr/>
          <p:nvPr/>
        </p:nvSpPr>
        <p:spPr>
          <a:xfrm>
            <a:off x="4279392" y="4390949"/>
            <a:ext cx="4526280" cy="480060"/>
          </a:xfrm>
          <a:prstGeom prst="rect">
            <a:avLst/>
          </a:prstGeom>
          <a:noFill/>
          <a:ln/>
        </p:spPr>
        <p:txBody>
          <a:bodyPr wrap="square" rtlCol="0" anchor="t"/>
          <a:lstStyle/>
          <a:p>
            <a:pPr marL="0" indent="0">
              <a:buNone/>
            </a:pPr>
            <a:r>
              <a:rPr lang="en-US" sz="1050" dirty="0">
                <a:solidFill>
                  <a:srgbClr val="5B7A8A"/>
                </a:solidFill>
                <a:latin typeface="Calibri" pitchFamily="34" charset="0"/>
                <a:ea typeface="Calibri" pitchFamily="34" charset="-122"/>
                <a:cs typeface="Calibri" pitchFamily="34" charset="-120"/>
              </a:rPr>
              <a:t>This pattern only emerges when all four indexes are combined into one synthesized surface.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BFD"/>
        </a:solidFill>
        <a:effectLst/>
      </p:bgPr>
    </p:bg>
    <p:spTree>
      <p:nvGrpSpPr>
        <p:cNvPr id="1" name=""/>
        <p:cNvGrpSpPr/>
        <p:nvPr/>
      </p:nvGrpSpPr>
      <p:grpSpPr>
        <a:xfrm>
          <a:off x="0" y="0"/>
          <a:ext cx="0" cy="0"/>
          <a:chOff x="0" y="0"/>
          <a:chExt cx="0" cy="0"/>
        </a:xfrm>
      </p:grpSpPr>
      <p:sp>
        <p:nvSpPr>
          <p:cNvPr id="2" name="Text 0"/>
          <p:cNvSpPr/>
          <p:nvPr/>
        </p:nvSpPr>
        <p:spPr>
          <a:xfrm>
            <a:off x="274320" y="182880"/>
            <a:ext cx="8595360" cy="502920"/>
          </a:xfrm>
          <a:prstGeom prst="rect">
            <a:avLst/>
          </a:prstGeom>
          <a:noFill/>
          <a:ln/>
        </p:spPr>
        <p:txBody>
          <a:bodyPr wrap="square"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When Averages Hide the Problem</a:t>
            </a:r>
            <a:endParaRPr lang="en-US" sz="2600" dirty="0"/>
          </a:p>
        </p:txBody>
      </p:sp>
      <p:pic>
        <p:nvPicPr>
          <p:cNvPr id="3" name="Image 0" descr="/mnt/user-data/uploads/Fig__7_Average_Integrated_Risk_Index__IIR__category_by_administrative_district_in_Serbia.png"/>
          <p:cNvPicPr>
            <a:picLocks noChangeAspect="1"/>
          </p:cNvPicPr>
          <p:nvPr/>
        </p:nvPicPr>
        <p:blipFill>
          <a:blip r:embed="rId3"/>
          <a:stretch>
            <a:fillRect/>
          </a:stretch>
        </p:blipFill>
        <p:spPr>
          <a:xfrm>
            <a:off x="201168" y="758952"/>
            <a:ext cx="3611880" cy="4251960"/>
          </a:xfrm>
          <a:prstGeom prst="rect">
            <a:avLst/>
          </a:prstGeom>
        </p:spPr>
      </p:pic>
      <p:sp>
        <p:nvSpPr>
          <p:cNvPr id="4" name="Shape 1"/>
          <p:cNvSpPr/>
          <p:nvPr/>
        </p:nvSpPr>
        <p:spPr>
          <a:xfrm>
            <a:off x="4005072" y="777240"/>
            <a:ext cx="4919472" cy="1389888"/>
          </a:xfrm>
          <a:prstGeom prst="roundRect">
            <a:avLst>
              <a:gd name="adj" fmla="val 5921"/>
            </a:avLst>
          </a:prstGeom>
          <a:solidFill>
            <a:srgbClr val="065A82"/>
          </a:solidFill>
          <a:ln/>
        </p:spPr>
        <p:txBody>
          <a:bodyPr/>
          <a:lstStyle/>
          <a:p>
            <a:endParaRPr lang="en-GB"/>
          </a:p>
        </p:txBody>
      </p:sp>
      <p:sp>
        <p:nvSpPr>
          <p:cNvPr id="5" name="Text 2"/>
          <p:cNvSpPr/>
          <p:nvPr/>
        </p:nvSpPr>
        <p:spPr>
          <a:xfrm>
            <a:off x="4133088" y="850392"/>
            <a:ext cx="4663440" cy="502920"/>
          </a:xfrm>
          <a:prstGeom prst="rect">
            <a:avLst/>
          </a:prstGeom>
          <a:noFill/>
          <a:ln/>
        </p:spPr>
        <p:txBody>
          <a:bodyPr wrap="square"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District averages can hide extreme local values.</a:t>
            </a:r>
            <a:endParaRPr lang="en-US" sz="1450" dirty="0"/>
          </a:p>
        </p:txBody>
      </p:sp>
      <p:sp>
        <p:nvSpPr>
          <p:cNvPr id="6" name="Text 3"/>
          <p:cNvSpPr/>
          <p:nvPr/>
        </p:nvSpPr>
        <p:spPr>
          <a:xfrm>
            <a:off x="4133088" y="1371600"/>
            <a:ext cx="4663440" cy="658368"/>
          </a:xfrm>
          <a:prstGeom prst="rect">
            <a:avLst/>
          </a:prstGeom>
          <a:noFill/>
          <a:ln/>
        </p:spPr>
        <p:txBody>
          <a:bodyPr wrap="square" rtlCol="0" anchor="ctr"/>
          <a:lstStyle/>
          <a:p>
            <a:pPr marL="0" indent="0">
              <a:buNone/>
            </a:pPr>
            <a:r>
              <a:rPr lang="en-US" sz="1200" i="1" dirty="0">
                <a:solidFill>
                  <a:srgbClr val="02C39A"/>
                </a:solidFill>
                <a:latin typeface="Calibri" pitchFamily="34" charset="0"/>
                <a:ea typeface="Calibri" pitchFamily="34" charset="-122"/>
                <a:cs typeface="Calibri" pitchFamily="34" charset="-120"/>
              </a:rPr>
              <a:t>The average has completely erased the worst station in the network.</a:t>
            </a:r>
            <a:endParaRPr lang="en-US" sz="1200" dirty="0"/>
          </a:p>
        </p:txBody>
      </p:sp>
      <p:sp>
        <p:nvSpPr>
          <p:cNvPr id="7" name="Shape 4"/>
          <p:cNvSpPr/>
          <p:nvPr/>
        </p:nvSpPr>
        <p:spPr>
          <a:xfrm>
            <a:off x="4005072" y="2304288"/>
            <a:ext cx="4919472" cy="621792"/>
          </a:xfrm>
          <a:prstGeom prst="roundRect">
            <a:avLst>
              <a:gd name="adj" fmla="val 8824"/>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8" name="Shape 5"/>
          <p:cNvSpPr/>
          <p:nvPr/>
        </p:nvSpPr>
        <p:spPr>
          <a:xfrm>
            <a:off x="4114800" y="2496312"/>
            <a:ext cx="219456" cy="219456"/>
          </a:xfrm>
          <a:prstGeom prst="ellipse">
            <a:avLst/>
          </a:prstGeom>
          <a:solidFill>
            <a:srgbClr val="C0392B"/>
          </a:solidFill>
          <a:ln/>
        </p:spPr>
        <p:txBody>
          <a:bodyPr/>
          <a:lstStyle/>
          <a:p>
            <a:endParaRPr lang="en-GB"/>
          </a:p>
        </p:txBody>
      </p:sp>
      <p:sp>
        <p:nvSpPr>
          <p:cNvPr id="9" name="Text 6"/>
          <p:cNvSpPr/>
          <p:nvPr/>
        </p:nvSpPr>
        <p:spPr>
          <a:xfrm>
            <a:off x="4425696" y="2350008"/>
            <a:ext cx="4370832" cy="237744"/>
          </a:xfrm>
          <a:prstGeom prst="rect">
            <a:avLst/>
          </a:prstGeom>
          <a:noFill/>
          <a:ln/>
        </p:spPr>
        <p:txBody>
          <a:bodyPr wrap="square" rtlCol="0" anchor="ctr"/>
          <a:lstStyle/>
          <a:p>
            <a:pPr marL="0" indent="0">
              <a:buNone/>
            </a:pPr>
            <a:r>
              <a:rPr lang="en-US" sz="1150" b="1" dirty="0">
                <a:solidFill>
                  <a:srgbClr val="C0392B"/>
                </a:solidFill>
                <a:latin typeface="Cambria" pitchFamily="34" charset="0"/>
                <a:ea typeface="Cambria" pitchFamily="34" charset="-122"/>
                <a:cs typeface="Cambria" pitchFamily="34" charset="-120"/>
              </a:rPr>
              <a:t>Borski district — a clear example</a:t>
            </a:r>
            <a:endParaRPr lang="en-US" sz="1150" dirty="0"/>
          </a:p>
        </p:txBody>
      </p:sp>
      <p:sp>
        <p:nvSpPr>
          <p:cNvPr id="10" name="Text 7"/>
          <p:cNvSpPr/>
          <p:nvPr/>
        </p:nvSpPr>
        <p:spPr>
          <a:xfrm>
            <a:off x="4425696" y="2624328"/>
            <a:ext cx="4370832" cy="246888"/>
          </a:xfrm>
          <a:prstGeom prst="rect">
            <a:avLst/>
          </a:prstGeom>
          <a:noFill/>
          <a:ln/>
        </p:spPr>
        <p:txBody>
          <a:bodyPr wrap="square" rtlCol="0" anchor="ctr"/>
          <a:lstStyle/>
          <a:p>
            <a:pPr marL="0" indent="0">
              <a:buNone/>
            </a:pPr>
            <a:r>
              <a:rPr lang="en-US" sz="1050" dirty="0">
                <a:solidFill>
                  <a:srgbClr val="5B7A8A"/>
                </a:solidFill>
                <a:latin typeface="Calibri" pitchFamily="34" charset="0"/>
                <a:ea typeface="Calibri" pitchFamily="34" charset="-122"/>
                <a:cs typeface="Calibri" pitchFamily="34" charset="-120"/>
              </a:rPr>
              <a:t>The district average falls in the low risk category. Yet Srbovo, inside that district, has the highest Integrated Risk Index in the whole country.</a:t>
            </a:r>
            <a:endParaRPr lang="en-US" sz="1050" dirty="0"/>
          </a:p>
        </p:txBody>
      </p:sp>
      <p:sp>
        <p:nvSpPr>
          <p:cNvPr id="11" name="Shape 8"/>
          <p:cNvSpPr/>
          <p:nvPr/>
        </p:nvSpPr>
        <p:spPr>
          <a:xfrm>
            <a:off x="4005072" y="3008376"/>
            <a:ext cx="4919472" cy="621792"/>
          </a:xfrm>
          <a:prstGeom prst="roundRect">
            <a:avLst>
              <a:gd name="adj" fmla="val 8824"/>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12" name="Shape 9"/>
          <p:cNvSpPr/>
          <p:nvPr/>
        </p:nvSpPr>
        <p:spPr>
          <a:xfrm>
            <a:off x="4114800" y="3200400"/>
            <a:ext cx="219456" cy="219456"/>
          </a:xfrm>
          <a:prstGeom prst="ellipse">
            <a:avLst/>
          </a:prstGeom>
          <a:solidFill>
            <a:srgbClr val="1C7293"/>
          </a:solidFill>
          <a:ln/>
        </p:spPr>
        <p:txBody>
          <a:bodyPr/>
          <a:lstStyle/>
          <a:p>
            <a:endParaRPr lang="en-GB"/>
          </a:p>
        </p:txBody>
      </p:sp>
      <p:sp>
        <p:nvSpPr>
          <p:cNvPr id="13" name="Text 10"/>
          <p:cNvSpPr/>
          <p:nvPr/>
        </p:nvSpPr>
        <p:spPr>
          <a:xfrm>
            <a:off x="4425696" y="3054096"/>
            <a:ext cx="4370832" cy="237744"/>
          </a:xfrm>
          <a:prstGeom prst="rect">
            <a:avLst/>
          </a:prstGeom>
          <a:noFill/>
          <a:ln/>
        </p:spPr>
        <p:txBody>
          <a:bodyPr wrap="square" rtlCol="0" anchor="ctr"/>
          <a:lstStyle/>
          <a:p>
            <a:pPr marL="0" indent="0">
              <a:buNone/>
            </a:pPr>
            <a:r>
              <a:rPr lang="en-US" sz="1150" b="1" dirty="0">
                <a:solidFill>
                  <a:srgbClr val="1C7293"/>
                </a:solidFill>
                <a:latin typeface="Cambria" pitchFamily="34" charset="0"/>
                <a:ea typeface="Cambria" pitchFamily="34" charset="-122"/>
                <a:cs typeface="Cambria" pitchFamily="34" charset="-120"/>
              </a:rPr>
              <a:t>Raška &amp; Rasinski districts</a:t>
            </a:r>
            <a:endParaRPr lang="en-US" sz="1150" dirty="0"/>
          </a:p>
        </p:txBody>
      </p:sp>
      <p:sp>
        <p:nvSpPr>
          <p:cNvPr id="14" name="Text 11"/>
          <p:cNvSpPr/>
          <p:nvPr/>
        </p:nvSpPr>
        <p:spPr>
          <a:xfrm>
            <a:off x="4425696" y="3328416"/>
            <a:ext cx="4370832" cy="246888"/>
          </a:xfrm>
          <a:prstGeom prst="rect">
            <a:avLst/>
          </a:prstGeom>
          <a:noFill/>
          <a:ln/>
        </p:spPr>
        <p:txBody>
          <a:bodyPr wrap="square" rtlCol="0" anchor="ctr"/>
          <a:lstStyle/>
          <a:p>
            <a:pPr marL="0" indent="0">
              <a:buNone/>
            </a:pPr>
            <a:r>
              <a:rPr lang="en-US" sz="1050" dirty="0">
                <a:solidFill>
                  <a:srgbClr val="5B7A8A"/>
                </a:solidFill>
                <a:latin typeface="Calibri" pitchFamily="34" charset="0"/>
                <a:ea typeface="Calibri" pitchFamily="34" charset="-122"/>
                <a:cs typeface="Calibri" pitchFamily="34" charset="-120"/>
              </a:rPr>
              <a:t>Mining-related point sources dominate at the station level, but the district average smooths them into something that looks merely moderate.</a:t>
            </a:r>
            <a:endParaRPr lang="en-US" sz="1050" dirty="0"/>
          </a:p>
        </p:txBody>
      </p:sp>
      <p:sp>
        <p:nvSpPr>
          <p:cNvPr id="15" name="Shape 12"/>
          <p:cNvSpPr/>
          <p:nvPr/>
        </p:nvSpPr>
        <p:spPr>
          <a:xfrm>
            <a:off x="4005072" y="3712464"/>
            <a:ext cx="4919472" cy="621792"/>
          </a:xfrm>
          <a:prstGeom prst="roundRect">
            <a:avLst>
              <a:gd name="adj" fmla="val 8824"/>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16" name="Shape 13"/>
          <p:cNvSpPr/>
          <p:nvPr/>
        </p:nvSpPr>
        <p:spPr>
          <a:xfrm>
            <a:off x="4114800" y="3904488"/>
            <a:ext cx="219456" cy="219456"/>
          </a:xfrm>
          <a:prstGeom prst="ellipse">
            <a:avLst/>
          </a:prstGeom>
          <a:solidFill>
            <a:srgbClr val="1C7293"/>
          </a:solidFill>
          <a:ln/>
        </p:spPr>
        <p:txBody>
          <a:bodyPr/>
          <a:lstStyle/>
          <a:p>
            <a:endParaRPr lang="en-GB"/>
          </a:p>
        </p:txBody>
      </p:sp>
      <p:sp>
        <p:nvSpPr>
          <p:cNvPr id="17" name="Text 14"/>
          <p:cNvSpPr/>
          <p:nvPr/>
        </p:nvSpPr>
        <p:spPr>
          <a:xfrm>
            <a:off x="4425696" y="3758184"/>
            <a:ext cx="4370832" cy="237744"/>
          </a:xfrm>
          <a:prstGeom prst="rect">
            <a:avLst/>
          </a:prstGeom>
          <a:noFill/>
          <a:ln/>
        </p:spPr>
        <p:txBody>
          <a:bodyPr wrap="square" rtlCol="0" anchor="ctr"/>
          <a:lstStyle/>
          <a:p>
            <a:pPr marL="0" indent="0">
              <a:buNone/>
            </a:pPr>
            <a:r>
              <a:rPr lang="en-US" sz="1150" b="1" dirty="0">
                <a:solidFill>
                  <a:srgbClr val="1C7293"/>
                </a:solidFill>
                <a:latin typeface="Cambria" pitchFamily="34" charset="0"/>
                <a:ea typeface="Cambria" pitchFamily="34" charset="-122"/>
                <a:cs typeface="Cambria" pitchFamily="34" charset="-120"/>
              </a:rPr>
              <a:t>Vojvodina (north)</a:t>
            </a:r>
            <a:endParaRPr lang="en-US" sz="1150" dirty="0"/>
          </a:p>
        </p:txBody>
      </p:sp>
      <p:sp>
        <p:nvSpPr>
          <p:cNvPr id="18" name="Text 15"/>
          <p:cNvSpPr/>
          <p:nvPr/>
        </p:nvSpPr>
        <p:spPr>
          <a:xfrm>
            <a:off x="4425696" y="4032504"/>
            <a:ext cx="4370832" cy="246888"/>
          </a:xfrm>
          <a:prstGeom prst="rect">
            <a:avLst/>
          </a:prstGeom>
          <a:noFill/>
          <a:ln/>
        </p:spPr>
        <p:txBody>
          <a:bodyPr wrap="square" rtlCol="0" anchor="ctr"/>
          <a:lstStyle/>
          <a:p>
            <a:pPr marL="0" indent="0">
              <a:buNone/>
            </a:pPr>
            <a:r>
              <a:rPr lang="en-US" sz="1050" dirty="0">
                <a:solidFill>
                  <a:srgbClr val="5B7A8A"/>
                </a:solidFill>
                <a:latin typeface="Calibri" pitchFamily="34" charset="0"/>
                <a:ea typeface="Calibri" pitchFamily="34" charset="-122"/>
                <a:cs typeface="Calibri" pitchFamily="34" charset="-120"/>
              </a:rPr>
              <a:t>Agricultural loading raises the district average — while cleaner stations within the same area disappear into that same number.</a:t>
            </a:r>
            <a:endParaRPr lang="en-US" sz="1050" dirty="0"/>
          </a:p>
        </p:txBody>
      </p:sp>
      <p:sp>
        <p:nvSpPr>
          <p:cNvPr id="19" name="Shape 16"/>
          <p:cNvSpPr/>
          <p:nvPr/>
        </p:nvSpPr>
        <p:spPr>
          <a:xfrm>
            <a:off x="4005072" y="4416552"/>
            <a:ext cx="4919472" cy="621792"/>
          </a:xfrm>
          <a:prstGeom prst="roundRect">
            <a:avLst>
              <a:gd name="adj" fmla="val 8824"/>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20" name="Shape 17"/>
          <p:cNvSpPr/>
          <p:nvPr/>
        </p:nvSpPr>
        <p:spPr>
          <a:xfrm>
            <a:off x="4114800" y="4608576"/>
            <a:ext cx="219456" cy="219456"/>
          </a:xfrm>
          <a:prstGeom prst="ellipse">
            <a:avLst/>
          </a:prstGeom>
          <a:solidFill>
            <a:srgbClr val="1C7293"/>
          </a:solidFill>
          <a:ln/>
        </p:spPr>
        <p:txBody>
          <a:bodyPr/>
          <a:lstStyle/>
          <a:p>
            <a:endParaRPr lang="en-GB"/>
          </a:p>
        </p:txBody>
      </p:sp>
      <p:sp>
        <p:nvSpPr>
          <p:cNvPr id="21" name="Text 18"/>
          <p:cNvSpPr/>
          <p:nvPr/>
        </p:nvSpPr>
        <p:spPr>
          <a:xfrm>
            <a:off x="4425696" y="4462272"/>
            <a:ext cx="4370832" cy="237744"/>
          </a:xfrm>
          <a:prstGeom prst="rect">
            <a:avLst/>
          </a:prstGeom>
          <a:noFill/>
          <a:ln/>
        </p:spPr>
        <p:txBody>
          <a:bodyPr wrap="square" rtlCol="0" anchor="ctr"/>
          <a:lstStyle/>
          <a:p>
            <a:pPr marL="0" indent="0">
              <a:buNone/>
            </a:pPr>
            <a:r>
              <a:rPr lang="en-US" sz="1150" b="1" dirty="0">
                <a:solidFill>
                  <a:srgbClr val="1C7293"/>
                </a:solidFill>
                <a:latin typeface="Cambria" pitchFamily="34" charset="0"/>
                <a:ea typeface="Cambria" pitchFamily="34" charset="-122"/>
                <a:cs typeface="Cambria" pitchFamily="34" charset="-120"/>
              </a:rPr>
              <a:t>The policy consequence</a:t>
            </a:r>
            <a:endParaRPr lang="en-US" sz="1150" dirty="0"/>
          </a:p>
        </p:txBody>
      </p:sp>
      <p:sp>
        <p:nvSpPr>
          <p:cNvPr id="22" name="Text 19"/>
          <p:cNvSpPr/>
          <p:nvPr/>
        </p:nvSpPr>
        <p:spPr>
          <a:xfrm>
            <a:off x="4425696" y="4736592"/>
            <a:ext cx="4370832" cy="246888"/>
          </a:xfrm>
          <a:prstGeom prst="rect">
            <a:avLst/>
          </a:prstGeom>
          <a:noFill/>
          <a:ln/>
        </p:spPr>
        <p:txBody>
          <a:bodyPr wrap="square" rtlCol="0" anchor="ctr"/>
          <a:lstStyle/>
          <a:p>
            <a:pPr marL="0" indent="0">
              <a:buNone/>
            </a:pPr>
            <a:r>
              <a:rPr lang="en-US" sz="1050" dirty="0">
                <a:solidFill>
                  <a:srgbClr val="5B7A8A"/>
                </a:solidFill>
                <a:latin typeface="Calibri" pitchFamily="34" charset="0"/>
                <a:ea typeface="Calibri" pitchFamily="34" charset="-122"/>
                <a:cs typeface="Calibri" pitchFamily="34" charset="-120"/>
              </a:rPr>
              <a:t>Environmental funding built on district averages will systematically miss the places that need help most.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274320" y="182880"/>
            <a:ext cx="8595360" cy="530352"/>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Are High-Risk Stations Clustered in Space?</a:t>
            </a:r>
            <a:endParaRPr lang="en-US" sz="2600" dirty="0"/>
          </a:p>
        </p:txBody>
      </p:sp>
      <p:pic>
        <p:nvPicPr>
          <p:cNvPr id="3" name="Image 0" descr="/mnt/user-data/uploads/Fig__8_Getis_Ord_Gi_hot_spot_analysis_of_Integrated_Risk_Index__IIR__values_in_Serbia.png"/>
          <p:cNvPicPr>
            <a:picLocks noChangeAspect="1"/>
          </p:cNvPicPr>
          <p:nvPr/>
        </p:nvPicPr>
        <p:blipFill>
          <a:blip r:embed="rId3"/>
          <a:stretch>
            <a:fillRect/>
          </a:stretch>
        </p:blipFill>
        <p:spPr>
          <a:xfrm>
            <a:off x="201168" y="777240"/>
            <a:ext cx="3611880" cy="4251960"/>
          </a:xfrm>
          <a:prstGeom prst="rect">
            <a:avLst/>
          </a:prstGeom>
        </p:spPr>
      </p:pic>
      <p:sp>
        <p:nvSpPr>
          <p:cNvPr id="4" name="Shape 1"/>
          <p:cNvSpPr/>
          <p:nvPr/>
        </p:nvSpPr>
        <p:spPr>
          <a:xfrm>
            <a:off x="4005072" y="804672"/>
            <a:ext cx="4919472" cy="1261872"/>
          </a:xfrm>
          <a:prstGeom prst="roundRect">
            <a:avLst>
              <a:gd name="adj" fmla="val 6522"/>
            </a:avLst>
          </a:prstGeom>
          <a:solidFill>
            <a:srgbClr val="1C7293">
              <a:alpha val="45000"/>
            </a:srgbClr>
          </a:solidFill>
          <a:ln/>
        </p:spPr>
        <p:txBody>
          <a:bodyPr/>
          <a:lstStyle/>
          <a:p>
            <a:endParaRPr lang="en-GB"/>
          </a:p>
        </p:txBody>
      </p:sp>
      <p:sp>
        <p:nvSpPr>
          <p:cNvPr id="5" name="Shape 2"/>
          <p:cNvSpPr/>
          <p:nvPr/>
        </p:nvSpPr>
        <p:spPr>
          <a:xfrm>
            <a:off x="4114800" y="1280160"/>
            <a:ext cx="347472" cy="347472"/>
          </a:xfrm>
          <a:prstGeom prst="ellipse">
            <a:avLst/>
          </a:prstGeom>
          <a:solidFill>
            <a:srgbClr val="C0392B"/>
          </a:solidFill>
          <a:ln/>
        </p:spPr>
        <p:txBody>
          <a:bodyPr/>
          <a:lstStyle/>
          <a:p>
            <a:endParaRPr lang="en-GB"/>
          </a:p>
        </p:txBody>
      </p:sp>
      <p:sp>
        <p:nvSpPr>
          <p:cNvPr id="6" name="Text 3"/>
          <p:cNvSpPr/>
          <p:nvPr/>
        </p:nvSpPr>
        <p:spPr>
          <a:xfrm>
            <a:off x="4572000" y="877824"/>
            <a:ext cx="4242816" cy="347472"/>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Cold Spots  =  High Risk Clusters</a:t>
            </a:r>
            <a:endParaRPr lang="en-US" sz="1250" dirty="0"/>
          </a:p>
        </p:txBody>
      </p:sp>
      <p:sp>
        <p:nvSpPr>
          <p:cNvPr id="7" name="Text 4"/>
          <p:cNvSpPr/>
          <p:nvPr/>
        </p:nvSpPr>
        <p:spPr>
          <a:xfrm>
            <a:off x="4572000" y="1225296"/>
            <a:ext cx="4242816" cy="256032"/>
          </a:xfrm>
          <a:prstGeom prst="rect">
            <a:avLst/>
          </a:prstGeom>
          <a:noFill/>
          <a:ln/>
        </p:spPr>
        <p:txBody>
          <a:bodyPr wrap="square" rtlCol="0" anchor="ctr"/>
          <a:lstStyle/>
          <a:p>
            <a:pPr marL="0" indent="0">
              <a:buNone/>
            </a:pPr>
            <a:r>
              <a:rPr lang="en-US" sz="1000" i="1" dirty="0">
                <a:solidFill>
                  <a:srgbClr val="C0392B"/>
                </a:solidFill>
                <a:latin typeface="Calibri" pitchFamily="34" charset="0"/>
                <a:ea typeface="Calibri" pitchFamily="34" charset="-122"/>
                <a:cs typeface="Calibri" pitchFamily="34" charset="-120"/>
              </a:rPr>
              <a:t>7 stations · Banat region · 95% confidence</a:t>
            </a:r>
            <a:endParaRPr lang="en-US" sz="1000" dirty="0"/>
          </a:p>
        </p:txBody>
      </p:sp>
      <p:sp>
        <p:nvSpPr>
          <p:cNvPr id="8" name="Text 5"/>
          <p:cNvSpPr/>
          <p:nvPr/>
        </p:nvSpPr>
        <p:spPr>
          <a:xfrm>
            <a:off x="4572000" y="1554480"/>
            <a:ext cx="4242816" cy="457200"/>
          </a:xfrm>
          <a:prstGeom prst="rect">
            <a:avLst/>
          </a:prstGeom>
          <a:noFill/>
          <a:ln/>
        </p:spPr>
        <p:txBody>
          <a:bodyPr wrap="square" rtlCol="0" anchor="ctr"/>
          <a:lstStyle/>
          <a:p>
            <a:pPr marL="0" indent="0">
              <a:buNone/>
            </a:pPr>
            <a:r>
              <a:rPr lang="en-US" sz="1050" dirty="0">
                <a:solidFill>
                  <a:srgbClr val="E8F4F8"/>
                </a:solidFill>
                <a:latin typeface="Calibri" pitchFamily="34" charset="0"/>
                <a:ea typeface="Calibri" pitchFamily="34" charset="-122"/>
                <a:cs typeface="Calibri" pitchFamily="34" charset="-120"/>
              </a:rPr>
              <a:t>Seven stations in the Banat share elevated risk AND their neighbors are also elevated. A regional problem driven by agriculture and industry — needs a regional response.</a:t>
            </a:r>
            <a:endParaRPr lang="en-US" sz="1050" dirty="0"/>
          </a:p>
        </p:txBody>
      </p:sp>
      <p:sp>
        <p:nvSpPr>
          <p:cNvPr id="9" name="Shape 6"/>
          <p:cNvSpPr/>
          <p:nvPr/>
        </p:nvSpPr>
        <p:spPr>
          <a:xfrm>
            <a:off x="4005072" y="2176272"/>
            <a:ext cx="4919472" cy="1261872"/>
          </a:xfrm>
          <a:prstGeom prst="roundRect">
            <a:avLst>
              <a:gd name="adj" fmla="val 6522"/>
            </a:avLst>
          </a:prstGeom>
          <a:solidFill>
            <a:srgbClr val="1C7293">
              <a:alpha val="45000"/>
            </a:srgbClr>
          </a:solidFill>
          <a:ln/>
        </p:spPr>
        <p:txBody>
          <a:bodyPr/>
          <a:lstStyle/>
          <a:p>
            <a:endParaRPr lang="en-GB"/>
          </a:p>
        </p:txBody>
      </p:sp>
      <p:sp>
        <p:nvSpPr>
          <p:cNvPr id="10" name="Shape 7"/>
          <p:cNvSpPr/>
          <p:nvPr/>
        </p:nvSpPr>
        <p:spPr>
          <a:xfrm>
            <a:off x="4114800" y="2651760"/>
            <a:ext cx="347472" cy="347472"/>
          </a:xfrm>
          <a:prstGeom prst="ellipse">
            <a:avLst/>
          </a:prstGeom>
          <a:solidFill>
            <a:srgbClr val="02C39A"/>
          </a:solidFill>
          <a:ln/>
        </p:spPr>
        <p:txBody>
          <a:bodyPr/>
          <a:lstStyle/>
          <a:p>
            <a:endParaRPr lang="en-GB"/>
          </a:p>
        </p:txBody>
      </p:sp>
      <p:sp>
        <p:nvSpPr>
          <p:cNvPr id="11" name="Text 8"/>
          <p:cNvSpPr/>
          <p:nvPr/>
        </p:nvSpPr>
        <p:spPr>
          <a:xfrm>
            <a:off x="4572000" y="2249424"/>
            <a:ext cx="4242816" cy="347472"/>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Hot Spots  =  Low Risk Clusters</a:t>
            </a:r>
            <a:endParaRPr lang="en-US" sz="1250" dirty="0"/>
          </a:p>
        </p:txBody>
      </p:sp>
      <p:sp>
        <p:nvSpPr>
          <p:cNvPr id="12" name="Text 9"/>
          <p:cNvSpPr/>
          <p:nvPr/>
        </p:nvSpPr>
        <p:spPr>
          <a:xfrm>
            <a:off x="4572000" y="2596896"/>
            <a:ext cx="4242816" cy="256032"/>
          </a:xfrm>
          <a:prstGeom prst="rect">
            <a:avLst/>
          </a:prstGeom>
          <a:noFill/>
          <a:ln/>
        </p:spPr>
        <p:txBody>
          <a:bodyPr wrap="square" rtlCol="0" anchor="ctr"/>
          <a:lstStyle/>
          <a:p>
            <a:pPr marL="0" indent="0">
              <a:buNone/>
            </a:pPr>
            <a:r>
              <a:rPr lang="en-US" sz="1000" i="1" dirty="0">
                <a:solidFill>
                  <a:srgbClr val="02C39A"/>
                </a:solidFill>
                <a:latin typeface="Calibri" pitchFamily="34" charset="0"/>
                <a:ea typeface="Calibri" pitchFamily="34" charset="-122"/>
                <a:cs typeface="Calibri" pitchFamily="34" charset="-120"/>
              </a:rPr>
              <a:t>5 stations · Southeast Serbia · 95% confidence</a:t>
            </a:r>
            <a:endParaRPr lang="en-US" sz="1000" dirty="0"/>
          </a:p>
        </p:txBody>
      </p:sp>
      <p:sp>
        <p:nvSpPr>
          <p:cNvPr id="13" name="Text 10"/>
          <p:cNvSpPr/>
          <p:nvPr/>
        </p:nvSpPr>
        <p:spPr>
          <a:xfrm>
            <a:off x="4572000" y="2926080"/>
            <a:ext cx="4242816" cy="457200"/>
          </a:xfrm>
          <a:prstGeom prst="rect">
            <a:avLst/>
          </a:prstGeom>
          <a:noFill/>
          <a:ln/>
        </p:spPr>
        <p:txBody>
          <a:bodyPr wrap="square" rtlCol="0" anchor="ctr"/>
          <a:lstStyle/>
          <a:p>
            <a:pPr marL="0" indent="0">
              <a:buNone/>
            </a:pPr>
            <a:r>
              <a:rPr lang="en-US" sz="1050" dirty="0">
                <a:solidFill>
                  <a:srgbClr val="E8F4F8"/>
                </a:solidFill>
                <a:latin typeface="Calibri" pitchFamily="34" charset="0"/>
                <a:ea typeface="Calibri" pitchFamily="34" charset="-122"/>
                <a:cs typeface="Calibri" pitchFamily="34" charset="-120"/>
              </a:rPr>
              <a:t>Five stations near Dimitrovgrad form the cleanest cluster in the network. Stable, uncontaminated conditions — valuable reference points for the whole monitoring system.</a:t>
            </a:r>
            <a:endParaRPr lang="en-US" sz="1050" dirty="0"/>
          </a:p>
        </p:txBody>
      </p:sp>
      <p:sp>
        <p:nvSpPr>
          <p:cNvPr id="14" name="Shape 11"/>
          <p:cNvSpPr/>
          <p:nvPr/>
        </p:nvSpPr>
        <p:spPr>
          <a:xfrm>
            <a:off x="4005072" y="3547872"/>
            <a:ext cx="4919472" cy="1261872"/>
          </a:xfrm>
          <a:prstGeom prst="roundRect">
            <a:avLst>
              <a:gd name="adj" fmla="val 6522"/>
            </a:avLst>
          </a:prstGeom>
          <a:solidFill>
            <a:srgbClr val="1C7293">
              <a:alpha val="45000"/>
            </a:srgbClr>
          </a:solidFill>
          <a:ln/>
        </p:spPr>
        <p:txBody>
          <a:bodyPr/>
          <a:lstStyle/>
          <a:p>
            <a:endParaRPr lang="en-GB"/>
          </a:p>
        </p:txBody>
      </p:sp>
      <p:sp>
        <p:nvSpPr>
          <p:cNvPr id="15" name="Shape 12"/>
          <p:cNvSpPr/>
          <p:nvPr/>
        </p:nvSpPr>
        <p:spPr>
          <a:xfrm>
            <a:off x="4114800" y="4023360"/>
            <a:ext cx="347472" cy="347472"/>
          </a:xfrm>
          <a:prstGeom prst="ellipse">
            <a:avLst/>
          </a:prstGeom>
          <a:solidFill>
            <a:srgbClr val="F0A500"/>
          </a:solidFill>
          <a:ln/>
        </p:spPr>
        <p:txBody>
          <a:bodyPr/>
          <a:lstStyle/>
          <a:p>
            <a:endParaRPr lang="en-GB"/>
          </a:p>
        </p:txBody>
      </p:sp>
      <p:sp>
        <p:nvSpPr>
          <p:cNvPr id="16" name="Text 13"/>
          <p:cNvSpPr/>
          <p:nvPr/>
        </p:nvSpPr>
        <p:spPr>
          <a:xfrm>
            <a:off x="4572000" y="3621024"/>
            <a:ext cx="4242816" cy="347472"/>
          </a:xfrm>
          <a:prstGeom prst="rect">
            <a:avLst/>
          </a:prstGeom>
          <a:noFill/>
          <a:ln/>
        </p:spPr>
        <p:txBody>
          <a:bodyPr wrap="square" rtlCol="0" anchor="ctr"/>
          <a:lstStyle/>
          <a:p>
            <a:pPr marL="0" indent="0">
              <a:buNone/>
            </a:pPr>
            <a:r>
              <a:rPr lang="en-US" sz="1250" b="1" dirty="0">
                <a:solidFill>
                  <a:srgbClr val="FFFFFF"/>
                </a:solidFill>
                <a:latin typeface="Cambria" pitchFamily="34" charset="0"/>
                <a:ea typeface="Cambria" pitchFamily="34" charset="-122"/>
                <a:cs typeface="Cambria" pitchFamily="34" charset="-120"/>
              </a:rPr>
              <a:t>Spatial Outlier  —  Isolated Extreme</a:t>
            </a:r>
            <a:endParaRPr lang="en-US" sz="1250" dirty="0"/>
          </a:p>
        </p:txBody>
      </p:sp>
      <p:sp>
        <p:nvSpPr>
          <p:cNvPr id="17" name="Text 14"/>
          <p:cNvSpPr/>
          <p:nvPr/>
        </p:nvSpPr>
        <p:spPr>
          <a:xfrm>
            <a:off x="4572000" y="3968496"/>
            <a:ext cx="4242816" cy="256032"/>
          </a:xfrm>
          <a:prstGeom prst="rect">
            <a:avLst/>
          </a:prstGeom>
          <a:noFill/>
          <a:ln/>
        </p:spPr>
        <p:txBody>
          <a:bodyPr wrap="square" rtlCol="0" anchor="ctr"/>
          <a:lstStyle/>
          <a:p>
            <a:pPr marL="0" indent="0">
              <a:buNone/>
            </a:pPr>
            <a:r>
              <a:rPr lang="en-US" sz="1000" i="1" dirty="0">
                <a:solidFill>
                  <a:srgbClr val="F0A500"/>
                </a:solidFill>
                <a:latin typeface="Calibri" pitchFamily="34" charset="0"/>
                <a:ea typeface="Calibri" pitchFamily="34" charset="-122"/>
                <a:cs typeface="Calibri" pitchFamily="34" charset="-120"/>
              </a:rPr>
              <a:t>Srbovo · Very High risk · no high-risk neighbors</a:t>
            </a:r>
            <a:endParaRPr lang="en-US" sz="1000" dirty="0"/>
          </a:p>
        </p:txBody>
      </p:sp>
      <p:sp>
        <p:nvSpPr>
          <p:cNvPr id="18" name="Text 15"/>
          <p:cNvSpPr/>
          <p:nvPr/>
        </p:nvSpPr>
        <p:spPr>
          <a:xfrm>
            <a:off x="4572000" y="4297680"/>
            <a:ext cx="4242816" cy="457200"/>
          </a:xfrm>
          <a:prstGeom prst="rect">
            <a:avLst/>
          </a:prstGeom>
          <a:noFill/>
          <a:ln/>
        </p:spPr>
        <p:txBody>
          <a:bodyPr wrap="square" rtlCol="0" anchor="ctr"/>
          <a:lstStyle/>
          <a:p>
            <a:pPr marL="0" indent="0">
              <a:buNone/>
            </a:pPr>
            <a:r>
              <a:rPr lang="en-US" sz="1050" dirty="0">
                <a:solidFill>
                  <a:srgbClr val="E8F4F8"/>
                </a:solidFill>
                <a:latin typeface="Calibri" pitchFamily="34" charset="0"/>
                <a:ea typeface="Calibri" pitchFamily="34" charset="-122"/>
                <a:cs typeface="Calibri" pitchFamily="34" charset="-120"/>
              </a:rPr>
              <a:t>The most polluted station in Serbia — but surrounded by clean water. A local mining point source on the Timok. Needs a completely different response than the Banat cluster.</a:t>
            </a:r>
            <a:endParaRPr lang="en-US" sz="1050" dirty="0"/>
          </a:p>
        </p:txBody>
      </p:sp>
      <p:sp>
        <p:nvSpPr>
          <p:cNvPr id="19" name="Shape 16"/>
          <p:cNvSpPr/>
          <p:nvPr/>
        </p:nvSpPr>
        <p:spPr>
          <a:xfrm>
            <a:off x="201168" y="4873752"/>
            <a:ext cx="8741664" cy="384048"/>
          </a:xfrm>
          <a:prstGeom prst="roundRect">
            <a:avLst>
              <a:gd name="adj" fmla="val 14286"/>
            </a:avLst>
          </a:prstGeom>
          <a:solidFill>
            <a:srgbClr val="1C7293">
              <a:alpha val="60000"/>
            </a:srgbClr>
          </a:solidFill>
          <a:ln/>
        </p:spPr>
        <p:txBody>
          <a:bodyPr/>
          <a:lstStyle/>
          <a:p>
            <a:endParaRPr lang="en-GB"/>
          </a:p>
        </p:txBody>
      </p:sp>
      <p:sp>
        <p:nvSpPr>
          <p:cNvPr id="20" name="Text 17"/>
          <p:cNvSpPr/>
          <p:nvPr/>
        </p:nvSpPr>
        <p:spPr>
          <a:xfrm>
            <a:off x="320040" y="4892040"/>
            <a:ext cx="8503920" cy="347472"/>
          </a:xfrm>
          <a:prstGeom prst="rect">
            <a:avLst/>
          </a:prstGeom>
          <a:noFill/>
          <a:ln/>
        </p:spPr>
        <p:txBody>
          <a:bodyPr wrap="square" rtlCol="0" anchor="ctr"/>
          <a:lstStyle/>
          <a:p>
            <a:pPr marL="0" indent="0" algn="ctr">
              <a:buNone/>
            </a:pPr>
            <a:r>
              <a:rPr lang="en-US" sz="1100" i="1" dirty="0">
                <a:solidFill>
                  <a:srgbClr val="02C39A"/>
                </a:solidFill>
                <a:latin typeface="Calibri" pitchFamily="34" charset="0"/>
                <a:ea typeface="Calibri" pitchFamily="34" charset="-122"/>
                <a:cs typeface="Calibri" pitchFamily="34" charset="-120"/>
              </a:rPr>
              <a:t>77.8% of stations show no significant spatial clustering  —  each one needs to be understood on its own terms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BFD"/>
        </a:solidFill>
        <a:effectLst/>
      </p:bgPr>
    </p:bg>
    <p:spTree>
      <p:nvGrpSpPr>
        <p:cNvPr id="1" name=""/>
        <p:cNvGrpSpPr/>
        <p:nvPr/>
      </p:nvGrpSpPr>
      <p:grpSpPr>
        <a:xfrm>
          <a:off x="0" y="0"/>
          <a:ext cx="0" cy="0"/>
          <a:chOff x="0" y="0"/>
          <a:chExt cx="0" cy="0"/>
        </a:xfrm>
      </p:grpSpPr>
      <p:sp>
        <p:nvSpPr>
          <p:cNvPr id="2" name="Text 0"/>
          <p:cNvSpPr/>
          <p:nvPr/>
        </p:nvSpPr>
        <p:spPr>
          <a:xfrm>
            <a:off x="365760" y="228600"/>
            <a:ext cx="8412480" cy="566928"/>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Why AHP + Getis-Ord Gi*?</a:t>
            </a:r>
            <a:endParaRPr lang="en-US" sz="3000" dirty="0"/>
          </a:p>
        </p:txBody>
      </p:sp>
      <p:sp>
        <p:nvSpPr>
          <p:cNvPr id="3" name="Shape 1"/>
          <p:cNvSpPr/>
          <p:nvPr/>
        </p:nvSpPr>
        <p:spPr>
          <a:xfrm>
            <a:off x="365760" y="1051560"/>
            <a:ext cx="4114800" cy="3246120"/>
          </a:xfrm>
          <a:prstGeom prst="roundRect">
            <a:avLst>
              <a:gd name="adj" fmla="val 2817"/>
            </a:avLst>
          </a:prstGeom>
          <a:solidFill>
            <a:srgbClr val="065A82"/>
          </a:solidFill>
          <a:ln/>
        </p:spPr>
        <p:txBody>
          <a:bodyPr/>
          <a:lstStyle/>
          <a:p>
            <a:endParaRPr lang="en-GB"/>
          </a:p>
        </p:txBody>
      </p:sp>
      <p:sp>
        <p:nvSpPr>
          <p:cNvPr id="4" name="Shape 2"/>
          <p:cNvSpPr/>
          <p:nvPr/>
        </p:nvSpPr>
        <p:spPr>
          <a:xfrm>
            <a:off x="594360" y="1280160"/>
            <a:ext cx="777240" cy="777240"/>
          </a:xfrm>
          <a:prstGeom prst="ellipse">
            <a:avLst/>
          </a:prstGeom>
          <a:solidFill>
            <a:srgbClr val="02C39A"/>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722376" y="1408176"/>
            <a:ext cx="521208" cy="521208"/>
          </a:xfrm>
          <a:prstGeom prst="rect">
            <a:avLst/>
          </a:prstGeom>
        </p:spPr>
      </p:pic>
      <p:sp>
        <p:nvSpPr>
          <p:cNvPr id="6" name="Text 3"/>
          <p:cNvSpPr/>
          <p:nvPr/>
        </p:nvSpPr>
        <p:spPr>
          <a:xfrm>
            <a:off x="1508760" y="1298448"/>
            <a:ext cx="27432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AHP</a:t>
            </a:r>
            <a:endParaRPr lang="en-US" sz="2200" dirty="0"/>
          </a:p>
        </p:txBody>
      </p:sp>
      <p:sp>
        <p:nvSpPr>
          <p:cNvPr id="7" name="Text 4"/>
          <p:cNvSpPr/>
          <p:nvPr/>
        </p:nvSpPr>
        <p:spPr>
          <a:xfrm>
            <a:off x="594360" y="1965960"/>
            <a:ext cx="3657600" cy="457200"/>
          </a:xfrm>
          <a:prstGeom prst="rect">
            <a:avLst/>
          </a:prstGeom>
          <a:noFill/>
          <a:ln/>
        </p:spPr>
        <p:txBody>
          <a:bodyPr wrap="square" rtlCol="0" anchor="ctr"/>
          <a:lstStyle/>
          <a:p>
            <a:pPr marL="0" indent="0">
              <a:buNone/>
            </a:pPr>
            <a:r>
              <a:rPr lang="en-US" sz="1300" i="1" dirty="0">
                <a:solidFill>
                  <a:srgbClr val="02C39A"/>
                </a:solidFill>
                <a:latin typeface="Calibri" pitchFamily="34" charset="0"/>
                <a:ea typeface="Calibri" pitchFamily="34" charset="-122"/>
                <a:cs typeface="Calibri" pitchFamily="34" charset="-120"/>
              </a:rPr>
              <a:t>“How risky is this location?”</a:t>
            </a:r>
            <a:endParaRPr lang="en-US" sz="1300" dirty="0"/>
          </a:p>
        </p:txBody>
      </p:sp>
      <p:sp>
        <p:nvSpPr>
          <p:cNvPr id="8" name="Text 5"/>
          <p:cNvSpPr/>
          <p:nvPr/>
        </p:nvSpPr>
        <p:spPr>
          <a:xfrm>
            <a:off x="594360" y="2468880"/>
            <a:ext cx="3657600" cy="914400"/>
          </a:xfrm>
          <a:prstGeom prst="rect">
            <a:avLst/>
          </a:prstGeom>
          <a:noFill/>
          <a:ln/>
        </p:spPr>
        <p:txBody>
          <a:bodyPr wrap="square" rtlCol="0" anchor="ctr"/>
          <a:lstStyle/>
          <a:p>
            <a:pPr marL="0" indent="0">
              <a:buNone/>
            </a:pPr>
            <a:r>
              <a:rPr lang="en-US" sz="1150" dirty="0">
                <a:solidFill>
                  <a:srgbClr val="E8F4F8"/>
                </a:solidFill>
                <a:latin typeface="Calibri" pitchFamily="34" charset="0"/>
                <a:ea typeface="Calibri" pitchFamily="34" charset="-122"/>
                <a:cs typeface="Calibri" pitchFamily="34" charset="-120"/>
              </a:rPr>
              <a:t>Gives each station an absolute risk score — Class 1 to 5 — based on pollution load, bioavailability, trend, and regulatory risk.</a:t>
            </a:r>
            <a:endParaRPr lang="en-US" sz="1150" dirty="0"/>
          </a:p>
        </p:txBody>
      </p:sp>
      <p:sp>
        <p:nvSpPr>
          <p:cNvPr id="9" name="Shape 6"/>
          <p:cNvSpPr/>
          <p:nvPr/>
        </p:nvSpPr>
        <p:spPr>
          <a:xfrm>
            <a:off x="594360" y="3520440"/>
            <a:ext cx="3657600" cy="594360"/>
          </a:xfrm>
          <a:prstGeom prst="roundRect">
            <a:avLst>
              <a:gd name="adj" fmla="val 9231"/>
            </a:avLst>
          </a:prstGeom>
          <a:solidFill>
            <a:srgbClr val="1C7293">
              <a:alpha val="50000"/>
            </a:srgbClr>
          </a:solidFill>
          <a:ln/>
        </p:spPr>
        <p:txBody>
          <a:bodyPr/>
          <a:lstStyle/>
          <a:p>
            <a:endParaRPr lang="en-GB"/>
          </a:p>
        </p:txBody>
      </p:sp>
      <p:sp>
        <p:nvSpPr>
          <p:cNvPr id="10" name="Text 7"/>
          <p:cNvSpPr/>
          <p:nvPr/>
        </p:nvSpPr>
        <p:spPr>
          <a:xfrm>
            <a:off x="685800" y="3520440"/>
            <a:ext cx="3474720" cy="5943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Answers: WHERE is risk high?</a:t>
            </a:r>
            <a:endParaRPr lang="en-US" sz="1150" dirty="0"/>
          </a:p>
        </p:txBody>
      </p:sp>
      <p:sp>
        <p:nvSpPr>
          <p:cNvPr id="11" name="Shape 8"/>
          <p:cNvSpPr/>
          <p:nvPr/>
        </p:nvSpPr>
        <p:spPr>
          <a:xfrm>
            <a:off x="4663440" y="1051560"/>
            <a:ext cx="4114800" cy="3246120"/>
          </a:xfrm>
          <a:prstGeom prst="roundRect">
            <a:avLst>
              <a:gd name="adj" fmla="val 2817"/>
            </a:avLst>
          </a:prstGeom>
          <a:solidFill>
            <a:srgbClr val="1C7293"/>
          </a:solidFill>
          <a:ln/>
        </p:spPr>
        <p:txBody>
          <a:bodyPr/>
          <a:lstStyle/>
          <a:p>
            <a:endParaRPr lang="en-GB"/>
          </a:p>
        </p:txBody>
      </p:sp>
      <p:sp>
        <p:nvSpPr>
          <p:cNvPr id="12" name="Shape 9"/>
          <p:cNvSpPr/>
          <p:nvPr/>
        </p:nvSpPr>
        <p:spPr>
          <a:xfrm>
            <a:off x="4892040" y="1280160"/>
            <a:ext cx="777240" cy="777240"/>
          </a:xfrm>
          <a:prstGeom prst="ellipse">
            <a:avLst/>
          </a:prstGeom>
          <a:solidFill>
            <a:srgbClr val="F0A500"/>
          </a:solidFill>
          <a:ln/>
        </p:spPr>
        <p:txBody>
          <a:bodyPr/>
          <a:lstStyle/>
          <a:p>
            <a:endParaRPr lang="en-GB"/>
          </a:p>
        </p:txBody>
      </p:sp>
      <p:pic>
        <p:nvPicPr>
          <p:cNvPr id="13" name="Image 1" descr="preencoded.png"/>
          <p:cNvPicPr>
            <a:picLocks noChangeAspect="1"/>
          </p:cNvPicPr>
          <p:nvPr/>
        </p:nvPicPr>
        <p:blipFill>
          <a:blip r:embed="rId4"/>
          <a:stretch>
            <a:fillRect/>
          </a:stretch>
        </p:blipFill>
        <p:spPr>
          <a:xfrm>
            <a:off x="5020056" y="1408176"/>
            <a:ext cx="521208" cy="521208"/>
          </a:xfrm>
          <a:prstGeom prst="rect">
            <a:avLst/>
          </a:prstGeom>
        </p:spPr>
      </p:pic>
      <p:sp>
        <p:nvSpPr>
          <p:cNvPr id="14" name="Text 10"/>
          <p:cNvSpPr/>
          <p:nvPr/>
        </p:nvSpPr>
        <p:spPr>
          <a:xfrm>
            <a:off x="5806440" y="1298448"/>
            <a:ext cx="283464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Getis-Ord Gi*</a:t>
            </a:r>
            <a:endParaRPr lang="en-US" sz="2000" dirty="0"/>
          </a:p>
        </p:txBody>
      </p:sp>
      <p:sp>
        <p:nvSpPr>
          <p:cNvPr id="15" name="Text 11"/>
          <p:cNvSpPr/>
          <p:nvPr/>
        </p:nvSpPr>
        <p:spPr>
          <a:xfrm>
            <a:off x="4892040" y="1965960"/>
            <a:ext cx="3657600" cy="457200"/>
          </a:xfrm>
          <a:prstGeom prst="rect">
            <a:avLst/>
          </a:prstGeom>
          <a:noFill/>
          <a:ln/>
        </p:spPr>
        <p:txBody>
          <a:bodyPr wrap="square" rtlCol="0" anchor="ctr"/>
          <a:lstStyle/>
          <a:p>
            <a:pPr marL="0" indent="0">
              <a:buNone/>
            </a:pPr>
            <a:r>
              <a:rPr lang="en-US" sz="1300" i="1" dirty="0">
                <a:solidFill>
                  <a:srgbClr val="F0A500"/>
                </a:solidFill>
                <a:latin typeface="Calibri" pitchFamily="34" charset="0"/>
                <a:ea typeface="Calibri" pitchFamily="34" charset="-122"/>
                <a:cs typeface="Calibri" pitchFamily="34" charset="-120"/>
              </a:rPr>
              <a:t>“Does that risk form a pattern?”</a:t>
            </a:r>
            <a:endParaRPr lang="en-US" sz="1300" dirty="0"/>
          </a:p>
        </p:txBody>
      </p:sp>
      <p:sp>
        <p:nvSpPr>
          <p:cNvPr id="16" name="Text 12"/>
          <p:cNvSpPr/>
          <p:nvPr/>
        </p:nvSpPr>
        <p:spPr>
          <a:xfrm>
            <a:off x="4892040" y="2468880"/>
            <a:ext cx="3657600" cy="914400"/>
          </a:xfrm>
          <a:prstGeom prst="rect">
            <a:avLst/>
          </a:prstGeom>
          <a:noFill/>
          <a:ln/>
        </p:spPr>
        <p:txBody>
          <a:bodyPr wrap="square" rtlCol="0" anchor="ctr"/>
          <a:lstStyle/>
          <a:p>
            <a:pPr marL="0" indent="0">
              <a:buNone/>
            </a:pPr>
            <a:r>
              <a:rPr lang="en-US" sz="1150" dirty="0">
                <a:solidFill>
                  <a:srgbClr val="E8F4F8"/>
                </a:solidFill>
                <a:latin typeface="Calibri" pitchFamily="34" charset="0"/>
                <a:ea typeface="Calibri" pitchFamily="34" charset="-122"/>
                <a:cs typeface="Calibri" pitchFamily="34" charset="-120"/>
              </a:rPr>
              <a:t>Tells us whether a high-risk location is part of a wider cluster, or stands alone as an isolated case.</a:t>
            </a:r>
            <a:endParaRPr lang="en-US" sz="1150" dirty="0"/>
          </a:p>
        </p:txBody>
      </p:sp>
      <p:sp>
        <p:nvSpPr>
          <p:cNvPr id="17" name="Shape 13"/>
          <p:cNvSpPr/>
          <p:nvPr/>
        </p:nvSpPr>
        <p:spPr>
          <a:xfrm>
            <a:off x="4892040" y="3520440"/>
            <a:ext cx="3657600" cy="594360"/>
          </a:xfrm>
          <a:prstGeom prst="roundRect">
            <a:avLst>
              <a:gd name="adj" fmla="val 9231"/>
            </a:avLst>
          </a:prstGeom>
          <a:solidFill>
            <a:srgbClr val="065A82">
              <a:alpha val="70000"/>
            </a:srgbClr>
          </a:solidFill>
          <a:ln/>
        </p:spPr>
        <p:txBody>
          <a:bodyPr/>
          <a:lstStyle/>
          <a:p>
            <a:endParaRPr lang="en-GB"/>
          </a:p>
        </p:txBody>
      </p:sp>
      <p:sp>
        <p:nvSpPr>
          <p:cNvPr id="18" name="Text 14"/>
          <p:cNvSpPr/>
          <p:nvPr/>
        </p:nvSpPr>
        <p:spPr>
          <a:xfrm>
            <a:off x="4983480" y="3520440"/>
            <a:ext cx="3474720" cy="59436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Answers: WHAT KIND of problem is it?</a:t>
            </a:r>
            <a:endParaRPr lang="en-US" sz="1150" dirty="0"/>
          </a:p>
        </p:txBody>
      </p:sp>
      <p:sp>
        <p:nvSpPr>
          <p:cNvPr id="19" name="Shape 15"/>
          <p:cNvSpPr/>
          <p:nvPr/>
        </p:nvSpPr>
        <p:spPr>
          <a:xfrm>
            <a:off x="365760" y="4480560"/>
            <a:ext cx="8412480" cy="685800"/>
          </a:xfrm>
          <a:prstGeom prst="roundRect">
            <a:avLst>
              <a:gd name="adj" fmla="val 10667"/>
            </a:avLst>
          </a:prstGeom>
          <a:solidFill>
            <a:srgbClr val="21295C"/>
          </a:solidFill>
          <a:ln/>
        </p:spPr>
        <p:txBody>
          <a:bodyPr/>
          <a:lstStyle/>
          <a:p>
            <a:endParaRPr lang="en-GB"/>
          </a:p>
        </p:txBody>
      </p:sp>
      <p:sp>
        <p:nvSpPr>
          <p:cNvPr id="20" name="Text 16"/>
          <p:cNvSpPr/>
          <p:nvPr/>
        </p:nvSpPr>
        <p:spPr>
          <a:xfrm>
            <a:off x="502920" y="4498848"/>
            <a:ext cx="8138160" cy="649224"/>
          </a:xfrm>
          <a:prstGeom prst="rect">
            <a:avLst/>
          </a:prstGeom>
          <a:noFill/>
          <a:ln/>
        </p:spPr>
        <p:txBody>
          <a:bodyPr wrap="square" lIns="0" tIns="0" rIns="0" bIns="0" rtlCol="0" anchor="ctr"/>
          <a:lstStyle/>
          <a:p>
            <a:pPr marL="0" indent="0" algn="ctr">
              <a:buNone/>
            </a:pPr>
            <a:r>
              <a:rPr lang="en-US" sz="1300" i="1" dirty="0">
                <a:solidFill>
                  <a:srgbClr val="02C39A"/>
                </a:solidFill>
                <a:latin typeface="Calibri" pitchFamily="34" charset="0"/>
                <a:ea typeface="Calibri" pitchFamily="34" charset="-122"/>
                <a:cs typeface="Calibri" pitchFamily="34" charset="-120"/>
              </a:rPr>
              <a:t>Together: not just WHERE risk is high, but WHAT KIND of problem it is — and what response it needs.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BFD"/>
        </a:solidFill>
        <a:effectLst/>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rtlCol="0" anchor="ctr"/>
          <a:lstStyle/>
          <a:p>
            <a:pPr marL="0" indent="0">
              <a:buNone/>
            </a:pPr>
            <a:r>
              <a:rPr lang="en-US" sz="2500" b="1" dirty="0">
                <a:solidFill>
                  <a:srgbClr val="21295C"/>
                </a:solidFill>
                <a:latin typeface="Cambria" pitchFamily="34" charset="0"/>
                <a:ea typeface="Cambria" pitchFamily="34" charset="-122"/>
                <a:cs typeface="Cambria" pitchFamily="34" charset="-120"/>
              </a:rPr>
              <a:t>Assumptions, Constraints &amp; Future Directions</a:t>
            </a:r>
            <a:endParaRPr lang="en-US" sz="2500" dirty="0"/>
          </a:p>
        </p:txBody>
      </p:sp>
      <p:sp>
        <p:nvSpPr>
          <p:cNvPr id="3" name="Shape 1"/>
          <p:cNvSpPr/>
          <p:nvPr/>
        </p:nvSpPr>
        <p:spPr>
          <a:xfrm>
            <a:off x="274320" y="804672"/>
            <a:ext cx="4160520" cy="365760"/>
          </a:xfrm>
          <a:prstGeom prst="roundRect">
            <a:avLst>
              <a:gd name="adj" fmla="val 15000"/>
            </a:avLst>
          </a:prstGeom>
          <a:solidFill>
            <a:srgbClr val="C0392B"/>
          </a:solidFill>
          <a:ln/>
        </p:spPr>
        <p:txBody>
          <a:bodyPr/>
          <a:lstStyle/>
          <a:p>
            <a:endParaRPr lang="en-GB"/>
          </a:p>
        </p:txBody>
      </p:sp>
      <p:sp>
        <p:nvSpPr>
          <p:cNvPr id="4" name="Text 2"/>
          <p:cNvSpPr/>
          <p:nvPr/>
        </p:nvSpPr>
        <p:spPr>
          <a:xfrm>
            <a:off x="274320" y="804672"/>
            <a:ext cx="41605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Current Constraints</a:t>
            </a:r>
            <a:endParaRPr lang="en-US" sz="1250" dirty="0"/>
          </a:p>
        </p:txBody>
      </p:sp>
      <p:sp>
        <p:nvSpPr>
          <p:cNvPr id="5" name="Shape 3"/>
          <p:cNvSpPr/>
          <p:nvPr/>
        </p:nvSpPr>
        <p:spPr>
          <a:xfrm>
            <a:off x="4709160" y="804672"/>
            <a:ext cx="4160520" cy="365760"/>
          </a:xfrm>
          <a:prstGeom prst="roundRect">
            <a:avLst>
              <a:gd name="adj" fmla="val 15000"/>
            </a:avLst>
          </a:prstGeom>
          <a:solidFill>
            <a:srgbClr val="1C7293"/>
          </a:solidFill>
          <a:ln/>
        </p:spPr>
        <p:txBody>
          <a:bodyPr/>
          <a:lstStyle/>
          <a:p>
            <a:endParaRPr lang="en-GB"/>
          </a:p>
        </p:txBody>
      </p:sp>
      <p:sp>
        <p:nvSpPr>
          <p:cNvPr id="6" name="Text 4"/>
          <p:cNvSpPr/>
          <p:nvPr/>
        </p:nvSpPr>
        <p:spPr>
          <a:xfrm>
            <a:off x="4709160" y="804672"/>
            <a:ext cx="41605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mbria" pitchFamily="34" charset="0"/>
                <a:ea typeface="Cambria" pitchFamily="34" charset="-122"/>
                <a:cs typeface="Cambria" pitchFamily="34" charset="-120"/>
              </a:rPr>
              <a:t>Future Directions</a:t>
            </a:r>
            <a:endParaRPr lang="en-US" sz="1250" dirty="0"/>
          </a:p>
        </p:txBody>
      </p:sp>
      <p:sp>
        <p:nvSpPr>
          <p:cNvPr id="7" name="Shape 5"/>
          <p:cNvSpPr/>
          <p:nvPr/>
        </p:nvSpPr>
        <p:spPr>
          <a:xfrm>
            <a:off x="274320" y="1243584"/>
            <a:ext cx="4160520" cy="685800"/>
          </a:xfrm>
          <a:prstGeom prst="roundRect">
            <a:avLst>
              <a:gd name="adj" fmla="val 9333"/>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8" name="Shape 6"/>
          <p:cNvSpPr/>
          <p:nvPr/>
        </p:nvSpPr>
        <p:spPr>
          <a:xfrm>
            <a:off x="402336" y="1463040"/>
            <a:ext cx="237744" cy="237744"/>
          </a:xfrm>
          <a:prstGeom prst="ellipse">
            <a:avLst/>
          </a:prstGeom>
          <a:solidFill>
            <a:srgbClr val="C0392B"/>
          </a:solidFill>
          <a:ln/>
        </p:spPr>
        <p:txBody>
          <a:bodyPr/>
          <a:lstStyle/>
          <a:p>
            <a:endParaRPr lang="en-GB"/>
          </a:p>
        </p:txBody>
      </p:sp>
      <p:sp>
        <p:nvSpPr>
          <p:cNvPr id="9" name="Text 7"/>
          <p:cNvSpPr/>
          <p:nvPr/>
        </p:nvSpPr>
        <p:spPr>
          <a:xfrm>
            <a:off x="749808" y="1316736"/>
            <a:ext cx="3566160" cy="548640"/>
          </a:xfrm>
          <a:prstGeom prst="rect">
            <a:avLst/>
          </a:prstGeom>
          <a:noFill/>
          <a:ln/>
        </p:spPr>
        <p:txBody>
          <a:bodyPr wrap="square" rtlCol="0" anchor="ctr"/>
          <a:lstStyle/>
          <a:p>
            <a:pPr marL="0" indent="0">
              <a:buNone/>
            </a:pPr>
            <a:r>
              <a:rPr lang="en-US" sz="1100" dirty="0">
                <a:solidFill>
                  <a:srgbClr val="21295C"/>
                </a:solidFill>
                <a:latin typeface="Calibri" pitchFamily="34" charset="0"/>
                <a:ea typeface="Calibri" pitchFamily="34" charset="-122"/>
                <a:cs typeface="Calibri" pitchFamily="34" charset="-120"/>
              </a:rPr>
              <a:t>Network covers urban/industrial zones more than rural areas</a:t>
            </a:r>
            <a:endParaRPr lang="en-US" sz="1100" dirty="0"/>
          </a:p>
        </p:txBody>
      </p:sp>
      <p:sp>
        <p:nvSpPr>
          <p:cNvPr id="10" name="Shape 8"/>
          <p:cNvSpPr/>
          <p:nvPr/>
        </p:nvSpPr>
        <p:spPr>
          <a:xfrm>
            <a:off x="4709160" y="1243584"/>
            <a:ext cx="4160520" cy="685800"/>
          </a:xfrm>
          <a:prstGeom prst="roundRect">
            <a:avLst>
              <a:gd name="adj" fmla="val 9333"/>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11" name="Shape 9"/>
          <p:cNvSpPr/>
          <p:nvPr/>
        </p:nvSpPr>
        <p:spPr>
          <a:xfrm>
            <a:off x="4837176" y="1463040"/>
            <a:ext cx="237744" cy="237744"/>
          </a:xfrm>
          <a:prstGeom prst="ellipse">
            <a:avLst/>
          </a:prstGeom>
          <a:solidFill>
            <a:srgbClr val="1C7293"/>
          </a:solidFill>
          <a:ln/>
        </p:spPr>
        <p:txBody>
          <a:bodyPr/>
          <a:lstStyle/>
          <a:p>
            <a:endParaRPr lang="en-GB"/>
          </a:p>
        </p:txBody>
      </p:sp>
      <p:sp>
        <p:nvSpPr>
          <p:cNvPr id="12" name="Text 10"/>
          <p:cNvSpPr/>
          <p:nvPr/>
        </p:nvSpPr>
        <p:spPr>
          <a:xfrm>
            <a:off x="5184648" y="1316736"/>
            <a:ext cx="3566160" cy="548640"/>
          </a:xfrm>
          <a:prstGeom prst="rect">
            <a:avLst/>
          </a:prstGeom>
          <a:noFill/>
          <a:ln/>
        </p:spPr>
        <p:txBody>
          <a:bodyPr wrap="square" rtlCol="0" anchor="ctr"/>
          <a:lstStyle/>
          <a:p>
            <a:pPr marL="0" indent="0">
              <a:buNone/>
            </a:pPr>
            <a:r>
              <a:rPr lang="en-US" sz="1100" dirty="0">
                <a:solidFill>
                  <a:srgbClr val="21295C"/>
                </a:solidFill>
                <a:latin typeface="Calibri" pitchFamily="34" charset="0"/>
                <a:ea typeface="Calibri" pitchFamily="34" charset="-122"/>
                <a:cs typeface="Calibri" pitchFamily="34" charset="-120"/>
              </a:rPr>
              <a:t>Expand spatial coverage</a:t>
            </a:r>
            <a:endParaRPr lang="en-US" sz="1100" dirty="0"/>
          </a:p>
        </p:txBody>
      </p:sp>
      <p:sp>
        <p:nvSpPr>
          <p:cNvPr id="13" name="Shape 11"/>
          <p:cNvSpPr/>
          <p:nvPr/>
        </p:nvSpPr>
        <p:spPr>
          <a:xfrm>
            <a:off x="274320" y="2020824"/>
            <a:ext cx="4160520" cy="685800"/>
          </a:xfrm>
          <a:prstGeom prst="roundRect">
            <a:avLst>
              <a:gd name="adj" fmla="val 9333"/>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14" name="Shape 12"/>
          <p:cNvSpPr/>
          <p:nvPr/>
        </p:nvSpPr>
        <p:spPr>
          <a:xfrm>
            <a:off x="402336" y="2240280"/>
            <a:ext cx="237744" cy="237744"/>
          </a:xfrm>
          <a:prstGeom prst="ellipse">
            <a:avLst/>
          </a:prstGeom>
          <a:solidFill>
            <a:srgbClr val="C0392B"/>
          </a:solidFill>
          <a:ln/>
        </p:spPr>
        <p:txBody>
          <a:bodyPr/>
          <a:lstStyle/>
          <a:p>
            <a:endParaRPr lang="en-GB"/>
          </a:p>
        </p:txBody>
      </p:sp>
      <p:sp>
        <p:nvSpPr>
          <p:cNvPr id="15" name="Text 13"/>
          <p:cNvSpPr/>
          <p:nvPr/>
        </p:nvSpPr>
        <p:spPr>
          <a:xfrm>
            <a:off x="749808" y="2093976"/>
            <a:ext cx="3566160" cy="548640"/>
          </a:xfrm>
          <a:prstGeom prst="rect">
            <a:avLst/>
          </a:prstGeom>
          <a:noFill/>
          <a:ln/>
        </p:spPr>
        <p:txBody>
          <a:bodyPr wrap="square" rtlCol="0" anchor="ctr"/>
          <a:lstStyle/>
          <a:p>
            <a:pPr marL="0" indent="0">
              <a:buNone/>
            </a:pPr>
            <a:r>
              <a:rPr lang="en-US" sz="1100" dirty="0">
                <a:solidFill>
                  <a:srgbClr val="21295C"/>
                </a:solidFill>
                <a:latin typeface="Calibri" pitchFamily="34" charset="0"/>
                <a:ea typeface="Calibri" pitchFamily="34" charset="-122"/>
                <a:cs typeface="Calibri" pitchFamily="34" charset="-120"/>
              </a:rPr>
              <a:t>Only 5 years — not enough for long-term patterns</a:t>
            </a:r>
            <a:endParaRPr lang="en-US" sz="1100" dirty="0"/>
          </a:p>
        </p:txBody>
      </p:sp>
      <p:sp>
        <p:nvSpPr>
          <p:cNvPr id="16" name="Shape 14"/>
          <p:cNvSpPr/>
          <p:nvPr/>
        </p:nvSpPr>
        <p:spPr>
          <a:xfrm>
            <a:off x="4709160" y="2020824"/>
            <a:ext cx="4160520" cy="685800"/>
          </a:xfrm>
          <a:prstGeom prst="roundRect">
            <a:avLst>
              <a:gd name="adj" fmla="val 9333"/>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17" name="Shape 15"/>
          <p:cNvSpPr/>
          <p:nvPr/>
        </p:nvSpPr>
        <p:spPr>
          <a:xfrm>
            <a:off x="4837176" y="2240280"/>
            <a:ext cx="237744" cy="237744"/>
          </a:xfrm>
          <a:prstGeom prst="ellipse">
            <a:avLst/>
          </a:prstGeom>
          <a:solidFill>
            <a:srgbClr val="1C7293"/>
          </a:solidFill>
          <a:ln/>
        </p:spPr>
        <p:txBody>
          <a:bodyPr/>
          <a:lstStyle/>
          <a:p>
            <a:endParaRPr lang="en-GB"/>
          </a:p>
        </p:txBody>
      </p:sp>
      <p:sp>
        <p:nvSpPr>
          <p:cNvPr id="18" name="Text 16"/>
          <p:cNvSpPr/>
          <p:nvPr/>
        </p:nvSpPr>
        <p:spPr>
          <a:xfrm>
            <a:off x="5184648" y="2093976"/>
            <a:ext cx="3566160" cy="548640"/>
          </a:xfrm>
          <a:prstGeom prst="rect">
            <a:avLst/>
          </a:prstGeom>
          <a:noFill/>
          <a:ln/>
        </p:spPr>
        <p:txBody>
          <a:bodyPr wrap="square" rtlCol="0" anchor="ctr"/>
          <a:lstStyle/>
          <a:p>
            <a:pPr marL="0" indent="0">
              <a:buNone/>
            </a:pPr>
            <a:r>
              <a:rPr lang="en-US" sz="1100" dirty="0">
                <a:solidFill>
                  <a:srgbClr val="21295C"/>
                </a:solidFill>
                <a:latin typeface="Calibri" pitchFamily="34" charset="0"/>
                <a:ea typeface="Calibri" pitchFamily="34" charset="-122"/>
                <a:cs typeface="Calibri" pitchFamily="34" charset="-120"/>
              </a:rPr>
              <a:t>Extend time series</a:t>
            </a:r>
            <a:endParaRPr lang="en-US" sz="1100" dirty="0"/>
          </a:p>
        </p:txBody>
      </p:sp>
      <p:sp>
        <p:nvSpPr>
          <p:cNvPr id="19" name="Shape 17"/>
          <p:cNvSpPr/>
          <p:nvPr/>
        </p:nvSpPr>
        <p:spPr>
          <a:xfrm>
            <a:off x="274320" y="2798064"/>
            <a:ext cx="4160520" cy="685800"/>
          </a:xfrm>
          <a:prstGeom prst="roundRect">
            <a:avLst>
              <a:gd name="adj" fmla="val 9333"/>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20" name="Shape 18"/>
          <p:cNvSpPr/>
          <p:nvPr/>
        </p:nvSpPr>
        <p:spPr>
          <a:xfrm>
            <a:off x="402336" y="3017520"/>
            <a:ext cx="237744" cy="237744"/>
          </a:xfrm>
          <a:prstGeom prst="ellipse">
            <a:avLst/>
          </a:prstGeom>
          <a:solidFill>
            <a:srgbClr val="C0392B"/>
          </a:solidFill>
          <a:ln/>
        </p:spPr>
        <p:txBody>
          <a:bodyPr/>
          <a:lstStyle/>
          <a:p>
            <a:endParaRPr lang="en-GB"/>
          </a:p>
        </p:txBody>
      </p:sp>
      <p:sp>
        <p:nvSpPr>
          <p:cNvPr id="21" name="Text 19"/>
          <p:cNvSpPr/>
          <p:nvPr/>
        </p:nvSpPr>
        <p:spPr>
          <a:xfrm>
            <a:off x="749808" y="2871216"/>
            <a:ext cx="3566160" cy="548640"/>
          </a:xfrm>
          <a:prstGeom prst="rect">
            <a:avLst/>
          </a:prstGeom>
          <a:noFill/>
          <a:ln/>
        </p:spPr>
        <p:txBody>
          <a:bodyPr wrap="square" rtlCol="0" anchor="ctr"/>
          <a:lstStyle/>
          <a:p>
            <a:pPr marL="0" indent="0">
              <a:buNone/>
            </a:pPr>
            <a:r>
              <a:rPr lang="en-US" sz="1100" dirty="0">
                <a:solidFill>
                  <a:srgbClr val="21295C"/>
                </a:solidFill>
                <a:latin typeface="Calibri" pitchFamily="34" charset="0"/>
                <a:ea typeface="Calibri" pitchFamily="34" charset="-122"/>
                <a:cs typeface="Calibri" pitchFamily="34" charset="-120"/>
              </a:rPr>
              <a:t>Only 3 metals — other pollutants outside scope</a:t>
            </a:r>
            <a:endParaRPr lang="en-US" sz="1100" dirty="0"/>
          </a:p>
        </p:txBody>
      </p:sp>
      <p:sp>
        <p:nvSpPr>
          <p:cNvPr id="22" name="Shape 20"/>
          <p:cNvSpPr/>
          <p:nvPr/>
        </p:nvSpPr>
        <p:spPr>
          <a:xfrm>
            <a:off x="4709160" y="2798064"/>
            <a:ext cx="4160520" cy="685800"/>
          </a:xfrm>
          <a:prstGeom prst="roundRect">
            <a:avLst>
              <a:gd name="adj" fmla="val 9333"/>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23" name="Shape 21"/>
          <p:cNvSpPr/>
          <p:nvPr/>
        </p:nvSpPr>
        <p:spPr>
          <a:xfrm>
            <a:off x="4837176" y="3017520"/>
            <a:ext cx="237744" cy="237744"/>
          </a:xfrm>
          <a:prstGeom prst="ellipse">
            <a:avLst/>
          </a:prstGeom>
          <a:solidFill>
            <a:srgbClr val="1C7293"/>
          </a:solidFill>
          <a:ln/>
        </p:spPr>
        <p:txBody>
          <a:bodyPr/>
          <a:lstStyle/>
          <a:p>
            <a:endParaRPr lang="en-GB"/>
          </a:p>
        </p:txBody>
      </p:sp>
      <p:sp>
        <p:nvSpPr>
          <p:cNvPr id="24" name="Text 22"/>
          <p:cNvSpPr/>
          <p:nvPr/>
        </p:nvSpPr>
        <p:spPr>
          <a:xfrm>
            <a:off x="5184648" y="2871216"/>
            <a:ext cx="3566160" cy="548640"/>
          </a:xfrm>
          <a:prstGeom prst="rect">
            <a:avLst/>
          </a:prstGeom>
          <a:noFill/>
          <a:ln/>
        </p:spPr>
        <p:txBody>
          <a:bodyPr wrap="square" rtlCol="0" anchor="ctr"/>
          <a:lstStyle/>
          <a:p>
            <a:pPr marL="0" indent="0">
              <a:buNone/>
            </a:pPr>
            <a:r>
              <a:rPr lang="en-US" sz="1100" dirty="0">
                <a:solidFill>
                  <a:srgbClr val="21295C"/>
                </a:solidFill>
                <a:latin typeface="Calibri" pitchFamily="34" charset="0"/>
                <a:ea typeface="Calibri" pitchFamily="34" charset="-122"/>
                <a:cs typeface="Calibri" pitchFamily="34" charset="-120"/>
              </a:rPr>
              <a:t>Include more pollutant groups</a:t>
            </a:r>
            <a:endParaRPr lang="en-US" sz="1100" dirty="0"/>
          </a:p>
        </p:txBody>
      </p:sp>
      <p:sp>
        <p:nvSpPr>
          <p:cNvPr id="25" name="Shape 23"/>
          <p:cNvSpPr/>
          <p:nvPr/>
        </p:nvSpPr>
        <p:spPr>
          <a:xfrm>
            <a:off x="274320" y="3575304"/>
            <a:ext cx="4160520" cy="685800"/>
          </a:xfrm>
          <a:prstGeom prst="roundRect">
            <a:avLst>
              <a:gd name="adj" fmla="val 9333"/>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26" name="Shape 24"/>
          <p:cNvSpPr/>
          <p:nvPr/>
        </p:nvSpPr>
        <p:spPr>
          <a:xfrm>
            <a:off x="402336" y="3794760"/>
            <a:ext cx="237744" cy="237744"/>
          </a:xfrm>
          <a:prstGeom prst="ellipse">
            <a:avLst/>
          </a:prstGeom>
          <a:solidFill>
            <a:srgbClr val="C0392B"/>
          </a:solidFill>
          <a:ln/>
        </p:spPr>
        <p:txBody>
          <a:bodyPr/>
          <a:lstStyle/>
          <a:p>
            <a:endParaRPr lang="en-GB"/>
          </a:p>
        </p:txBody>
      </p:sp>
      <p:sp>
        <p:nvSpPr>
          <p:cNvPr id="27" name="Text 25"/>
          <p:cNvSpPr/>
          <p:nvPr/>
        </p:nvSpPr>
        <p:spPr>
          <a:xfrm>
            <a:off x="749808" y="3648456"/>
            <a:ext cx="3566160" cy="548640"/>
          </a:xfrm>
          <a:prstGeom prst="rect">
            <a:avLst/>
          </a:prstGeom>
          <a:noFill/>
          <a:ln/>
        </p:spPr>
        <p:txBody>
          <a:bodyPr wrap="square" rtlCol="0" anchor="ctr"/>
          <a:lstStyle/>
          <a:p>
            <a:pPr marL="0" indent="0">
              <a:buNone/>
            </a:pPr>
            <a:r>
              <a:rPr lang="en-US" sz="1100" dirty="0">
                <a:solidFill>
                  <a:srgbClr val="21295C"/>
                </a:solidFill>
                <a:latin typeface="Calibri" pitchFamily="34" charset="0"/>
                <a:ea typeface="Calibri" pitchFamily="34" charset="-122"/>
                <a:cs typeface="Calibri" pitchFamily="34" charset="-120"/>
              </a:rPr>
              <a:t>AHP weights — expert-based, not statistically derived</a:t>
            </a:r>
            <a:endParaRPr lang="en-US" sz="1100" dirty="0"/>
          </a:p>
        </p:txBody>
      </p:sp>
      <p:sp>
        <p:nvSpPr>
          <p:cNvPr id="28" name="Shape 26"/>
          <p:cNvSpPr/>
          <p:nvPr/>
        </p:nvSpPr>
        <p:spPr>
          <a:xfrm>
            <a:off x="4709160" y="3575304"/>
            <a:ext cx="4160520" cy="685800"/>
          </a:xfrm>
          <a:prstGeom prst="roundRect">
            <a:avLst>
              <a:gd name="adj" fmla="val 9333"/>
            </a:avLst>
          </a:prstGeom>
          <a:solidFill>
            <a:srgbClr val="FFFFFF"/>
          </a:solidFill>
          <a:ln/>
          <a:effectLst>
            <a:outerShdw blurRad="101600" dist="38100" dir="2700000" algn="bl" rotWithShape="0">
              <a:srgbClr val="000000">
                <a:alpha val="7000"/>
              </a:srgbClr>
            </a:outerShdw>
          </a:effectLst>
        </p:spPr>
        <p:txBody>
          <a:bodyPr/>
          <a:lstStyle/>
          <a:p>
            <a:endParaRPr lang="en-GB"/>
          </a:p>
        </p:txBody>
      </p:sp>
      <p:sp>
        <p:nvSpPr>
          <p:cNvPr id="29" name="Shape 27"/>
          <p:cNvSpPr/>
          <p:nvPr/>
        </p:nvSpPr>
        <p:spPr>
          <a:xfrm>
            <a:off x="4837176" y="3794760"/>
            <a:ext cx="237744" cy="237744"/>
          </a:xfrm>
          <a:prstGeom prst="ellipse">
            <a:avLst/>
          </a:prstGeom>
          <a:solidFill>
            <a:srgbClr val="1C7293"/>
          </a:solidFill>
          <a:ln/>
        </p:spPr>
        <p:txBody>
          <a:bodyPr/>
          <a:lstStyle/>
          <a:p>
            <a:endParaRPr lang="en-GB"/>
          </a:p>
        </p:txBody>
      </p:sp>
      <p:sp>
        <p:nvSpPr>
          <p:cNvPr id="30" name="Text 28"/>
          <p:cNvSpPr/>
          <p:nvPr/>
        </p:nvSpPr>
        <p:spPr>
          <a:xfrm>
            <a:off x="5184648" y="3648456"/>
            <a:ext cx="3566160" cy="548640"/>
          </a:xfrm>
          <a:prstGeom prst="rect">
            <a:avLst/>
          </a:prstGeom>
          <a:noFill/>
          <a:ln/>
        </p:spPr>
        <p:txBody>
          <a:bodyPr wrap="square" rtlCol="0" anchor="ctr"/>
          <a:lstStyle/>
          <a:p>
            <a:pPr marL="0" indent="0">
              <a:buNone/>
            </a:pPr>
            <a:r>
              <a:rPr lang="en-US" sz="1100" dirty="0">
                <a:solidFill>
                  <a:srgbClr val="21295C"/>
                </a:solidFill>
                <a:latin typeface="Calibri" pitchFamily="34" charset="0"/>
                <a:ea typeface="Calibri" pitchFamily="34" charset="-122"/>
                <a:cs typeface="Calibri" pitchFamily="34" charset="-120"/>
              </a:rPr>
              <a:t>Test weights &amp; add ML prediction</a:t>
            </a:r>
            <a:endParaRPr lang="en-US" sz="1100" dirty="0"/>
          </a:p>
        </p:txBody>
      </p:sp>
      <p:sp>
        <p:nvSpPr>
          <p:cNvPr id="31" name="Shape 29"/>
          <p:cNvSpPr/>
          <p:nvPr/>
        </p:nvSpPr>
        <p:spPr>
          <a:xfrm>
            <a:off x="274320" y="4434840"/>
            <a:ext cx="8595360" cy="566928"/>
          </a:xfrm>
          <a:prstGeom prst="roundRect">
            <a:avLst>
              <a:gd name="adj" fmla="val 9677"/>
            </a:avLst>
          </a:prstGeom>
          <a:solidFill>
            <a:srgbClr val="21295C"/>
          </a:solidFill>
          <a:ln/>
        </p:spPr>
        <p:txBody>
          <a:bodyPr/>
          <a:lstStyle/>
          <a:p>
            <a:endParaRPr lang="en-GB"/>
          </a:p>
        </p:txBody>
      </p:sp>
      <p:sp>
        <p:nvSpPr>
          <p:cNvPr id="32" name="Text 30"/>
          <p:cNvSpPr/>
          <p:nvPr/>
        </p:nvSpPr>
        <p:spPr>
          <a:xfrm>
            <a:off x="411480" y="4434840"/>
            <a:ext cx="8321040" cy="566928"/>
          </a:xfrm>
          <a:prstGeom prst="rect">
            <a:avLst/>
          </a:prstGeom>
          <a:noFill/>
          <a:ln/>
        </p:spPr>
        <p:txBody>
          <a:bodyPr wrap="square" lIns="0" tIns="0" rIns="0" bIns="0" rtlCol="0" anchor="ctr"/>
          <a:lstStyle/>
          <a:p>
            <a:pPr marL="0" indent="0" algn="ctr">
              <a:buNone/>
            </a:pPr>
            <a:r>
              <a:rPr lang="en-US" sz="1200" i="1" dirty="0">
                <a:solidFill>
                  <a:srgbClr val="02C39A"/>
                </a:solidFill>
                <a:latin typeface="Calibri" pitchFamily="34" charset="0"/>
                <a:ea typeface="Calibri" pitchFamily="34" charset="-122"/>
                <a:cs typeface="Calibri" pitchFamily="34" charset="-120"/>
              </a:rPr>
              <a:t>These constraints do not invalidate the framework — they define its scope and give a clear roadmap for what comes next.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BFD"/>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66928"/>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Open Source Perspective</a:t>
            </a:r>
            <a:endParaRPr lang="en-US" sz="3000" dirty="0"/>
          </a:p>
        </p:txBody>
      </p:sp>
      <p:sp>
        <p:nvSpPr>
          <p:cNvPr id="3" name="Shape 1"/>
          <p:cNvSpPr/>
          <p:nvPr/>
        </p:nvSpPr>
        <p:spPr>
          <a:xfrm>
            <a:off x="3246120" y="932688"/>
            <a:ext cx="2651760" cy="2651760"/>
          </a:xfrm>
          <a:prstGeom prst="ellipse">
            <a:avLst/>
          </a:prstGeom>
          <a:solidFill>
            <a:srgbClr val="065A82"/>
          </a:solidFill>
          <a:ln/>
        </p:spPr>
        <p:txBody>
          <a:bodyPr/>
          <a:lstStyle/>
          <a:p>
            <a:endParaRPr lang="en-GB"/>
          </a:p>
        </p:txBody>
      </p:sp>
      <p:pic>
        <p:nvPicPr>
          <p:cNvPr id="4" name="Image 0" descr="preencoded.png"/>
          <p:cNvPicPr>
            <a:picLocks noChangeAspect="1"/>
          </p:cNvPicPr>
          <p:nvPr/>
        </p:nvPicPr>
        <p:blipFill>
          <a:blip r:embed="rId3"/>
          <a:stretch>
            <a:fillRect/>
          </a:stretch>
        </p:blipFill>
        <p:spPr>
          <a:xfrm>
            <a:off x="3794760" y="1298448"/>
            <a:ext cx="1554480" cy="1554480"/>
          </a:xfrm>
          <a:prstGeom prst="rect">
            <a:avLst/>
          </a:prstGeom>
        </p:spPr>
      </p:pic>
      <p:sp>
        <p:nvSpPr>
          <p:cNvPr id="5" name="Text 2"/>
          <p:cNvSpPr/>
          <p:nvPr/>
        </p:nvSpPr>
        <p:spPr>
          <a:xfrm>
            <a:off x="3246120" y="3675888"/>
            <a:ext cx="2651760" cy="384048"/>
          </a:xfrm>
          <a:prstGeom prst="rect">
            <a:avLst/>
          </a:prstGeom>
          <a:noFill/>
          <a:ln/>
        </p:spPr>
        <p:txBody>
          <a:bodyPr wrap="square" rtlCol="0" anchor="ctr"/>
          <a:lstStyle/>
          <a:p>
            <a:pPr marL="0" indent="0" algn="ctr">
              <a:buNone/>
            </a:pPr>
            <a:r>
              <a:rPr lang="en-US" sz="1400" b="1" dirty="0">
                <a:solidFill>
                  <a:srgbClr val="065A82"/>
                </a:solidFill>
                <a:latin typeface="Cambria" pitchFamily="34" charset="0"/>
                <a:ea typeface="Cambria" pitchFamily="34" charset="-122"/>
                <a:cs typeface="Cambria" pitchFamily="34" charset="-120"/>
              </a:rPr>
              <a:t>QGIS</a:t>
            </a:r>
            <a:endParaRPr lang="en-US" sz="1400" dirty="0"/>
          </a:p>
        </p:txBody>
      </p:sp>
      <p:sp>
        <p:nvSpPr>
          <p:cNvPr id="6" name="Shape 3"/>
          <p:cNvSpPr/>
          <p:nvPr/>
        </p:nvSpPr>
        <p:spPr>
          <a:xfrm>
            <a:off x="164592" y="960120"/>
            <a:ext cx="2788920" cy="1234440"/>
          </a:xfrm>
          <a:prstGeom prst="roundRect">
            <a:avLst>
              <a:gd name="adj" fmla="val 6667"/>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7" name="Text 4"/>
          <p:cNvSpPr/>
          <p:nvPr/>
        </p:nvSpPr>
        <p:spPr>
          <a:xfrm>
            <a:off x="292608" y="1051560"/>
            <a:ext cx="2542032" cy="420624"/>
          </a:xfrm>
          <a:prstGeom prst="rect">
            <a:avLst/>
          </a:prstGeom>
          <a:noFill/>
          <a:ln/>
        </p:spPr>
        <p:txBody>
          <a:bodyPr wrap="square"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Transparent</a:t>
            </a:r>
            <a:endParaRPr lang="en-US" sz="1350" dirty="0"/>
          </a:p>
        </p:txBody>
      </p:sp>
      <p:sp>
        <p:nvSpPr>
          <p:cNvPr id="8" name="Text 5"/>
          <p:cNvSpPr/>
          <p:nvPr/>
        </p:nvSpPr>
        <p:spPr>
          <a:xfrm>
            <a:off x="292608" y="1490472"/>
            <a:ext cx="2542032" cy="621792"/>
          </a:xfrm>
          <a:prstGeom prst="rect">
            <a:avLst/>
          </a:prstGeom>
          <a:noFill/>
          <a:ln/>
        </p:spPr>
        <p:txBody>
          <a:bodyPr wrap="square" rtlCol="0" anchor="ctr"/>
          <a:lstStyle/>
          <a:p>
            <a:pPr marL="0" indent="0">
              <a:buNone/>
            </a:pPr>
            <a:r>
              <a:rPr lang="en-US" sz="1150" dirty="0">
                <a:solidFill>
                  <a:srgbClr val="5B7A8A"/>
                </a:solidFill>
                <a:latin typeface="Calibri" pitchFamily="34" charset="0"/>
                <a:ea typeface="Calibri" pitchFamily="34" charset="-122"/>
                <a:cs typeface="Calibri" pitchFamily="34" charset="-120"/>
              </a:rPr>
              <a:t>Every step is visible. There are no hidden calculations inside a proprietary black box.</a:t>
            </a:r>
            <a:endParaRPr lang="en-US" sz="1150" dirty="0"/>
          </a:p>
        </p:txBody>
      </p:sp>
      <p:sp>
        <p:nvSpPr>
          <p:cNvPr id="9" name="Shape 6"/>
          <p:cNvSpPr/>
          <p:nvPr/>
        </p:nvSpPr>
        <p:spPr>
          <a:xfrm>
            <a:off x="6236208" y="960120"/>
            <a:ext cx="2788920" cy="1234440"/>
          </a:xfrm>
          <a:prstGeom prst="roundRect">
            <a:avLst>
              <a:gd name="adj" fmla="val 6667"/>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0" name="Text 7"/>
          <p:cNvSpPr/>
          <p:nvPr/>
        </p:nvSpPr>
        <p:spPr>
          <a:xfrm>
            <a:off x="6364224" y="1051560"/>
            <a:ext cx="2542032" cy="420624"/>
          </a:xfrm>
          <a:prstGeom prst="rect">
            <a:avLst/>
          </a:prstGeom>
          <a:noFill/>
          <a:ln/>
        </p:spPr>
        <p:txBody>
          <a:bodyPr wrap="square"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Reproducible</a:t>
            </a:r>
            <a:endParaRPr lang="en-US" sz="1350" dirty="0"/>
          </a:p>
        </p:txBody>
      </p:sp>
      <p:sp>
        <p:nvSpPr>
          <p:cNvPr id="11" name="Text 8"/>
          <p:cNvSpPr/>
          <p:nvPr/>
        </p:nvSpPr>
        <p:spPr>
          <a:xfrm>
            <a:off x="6364224" y="1490472"/>
            <a:ext cx="2542032" cy="621792"/>
          </a:xfrm>
          <a:prstGeom prst="rect">
            <a:avLst/>
          </a:prstGeom>
          <a:noFill/>
          <a:ln/>
        </p:spPr>
        <p:txBody>
          <a:bodyPr wrap="square" rtlCol="0" anchor="ctr"/>
          <a:lstStyle/>
          <a:p>
            <a:pPr marL="0" indent="0">
              <a:buNone/>
            </a:pPr>
            <a:r>
              <a:rPr lang="en-US" sz="1150" dirty="0">
                <a:solidFill>
                  <a:srgbClr val="5B7A8A"/>
                </a:solidFill>
                <a:latin typeface="Calibri" pitchFamily="34" charset="0"/>
                <a:ea typeface="Calibri" pitchFamily="34" charset="-122"/>
                <a:cs typeface="Calibri" pitchFamily="34" charset="-120"/>
              </a:rPr>
              <a:t>Anyone can take this workflow and run it themselves, and verify the results.</a:t>
            </a:r>
            <a:endParaRPr lang="en-US" sz="1150" dirty="0"/>
          </a:p>
        </p:txBody>
      </p:sp>
      <p:sp>
        <p:nvSpPr>
          <p:cNvPr id="12" name="Shape 9"/>
          <p:cNvSpPr/>
          <p:nvPr/>
        </p:nvSpPr>
        <p:spPr>
          <a:xfrm>
            <a:off x="164592" y="3200400"/>
            <a:ext cx="2788920" cy="1234440"/>
          </a:xfrm>
          <a:prstGeom prst="roundRect">
            <a:avLst>
              <a:gd name="adj" fmla="val 6667"/>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3" name="Text 10"/>
          <p:cNvSpPr/>
          <p:nvPr/>
        </p:nvSpPr>
        <p:spPr>
          <a:xfrm>
            <a:off x="292608" y="3291840"/>
            <a:ext cx="2542032" cy="420624"/>
          </a:xfrm>
          <a:prstGeom prst="rect">
            <a:avLst/>
          </a:prstGeom>
          <a:noFill/>
          <a:ln/>
        </p:spPr>
        <p:txBody>
          <a:bodyPr wrap="square"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Adaptable</a:t>
            </a:r>
            <a:endParaRPr lang="en-US" sz="1350" dirty="0"/>
          </a:p>
        </p:txBody>
      </p:sp>
      <p:sp>
        <p:nvSpPr>
          <p:cNvPr id="14" name="Text 11"/>
          <p:cNvSpPr/>
          <p:nvPr/>
        </p:nvSpPr>
        <p:spPr>
          <a:xfrm>
            <a:off x="292608" y="3730752"/>
            <a:ext cx="2542032" cy="621792"/>
          </a:xfrm>
          <a:prstGeom prst="rect">
            <a:avLst/>
          </a:prstGeom>
          <a:noFill/>
          <a:ln/>
        </p:spPr>
        <p:txBody>
          <a:bodyPr wrap="square" rtlCol="0" anchor="ctr"/>
          <a:lstStyle/>
          <a:p>
            <a:pPr marL="0" indent="0">
              <a:buNone/>
            </a:pPr>
            <a:r>
              <a:rPr lang="en-US" sz="1150" dirty="0">
                <a:solidFill>
                  <a:srgbClr val="5B7A8A"/>
                </a:solidFill>
                <a:latin typeface="Calibri" pitchFamily="34" charset="0"/>
                <a:ea typeface="Calibri" pitchFamily="34" charset="-122"/>
                <a:cs typeface="Calibri" pitchFamily="34" charset="-120"/>
              </a:rPr>
              <a:t>The same framework can be applied to other regions, other pollutants, other time periods.</a:t>
            </a:r>
            <a:endParaRPr lang="en-US" sz="1150" dirty="0"/>
          </a:p>
        </p:txBody>
      </p:sp>
      <p:sp>
        <p:nvSpPr>
          <p:cNvPr id="15" name="Shape 12"/>
          <p:cNvSpPr/>
          <p:nvPr/>
        </p:nvSpPr>
        <p:spPr>
          <a:xfrm>
            <a:off x="6236208" y="3200400"/>
            <a:ext cx="2788920" cy="1234440"/>
          </a:xfrm>
          <a:prstGeom prst="roundRect">
            <a:avLst>
              <a:gd name="adj" fmla="val 6667"/>
            </a:avLst>
          </a:prstGeom>
          <a:solidFill>
            <a:srgbClr val="FFFFFF"/>
          </a:solidFill>
          <a:ln/>
          <a:effectLst>
            <a:outerShdw blurRad="101600" dist="38100" dir="2700000" algn="bl" rotWithShape="0">
              <a:srgbClr val="000000">
                <a:alpha val="10000"/>
              </a:srgbClr>
            </a:outerShdw>
          </a:effectLst>
        </p:spPr>
        <p:txBody>
          <a:bodyPr/>
          <a:lstStyle/>
          <a:p>
            <a:endParaRPr lang="en-GB"/>
          </a:p>
        </p:txBody>
      </p:sp>
      <p:sp>
        <p:nvSpPr>
          <p:cNvPr id="16" name="Text 13"/>
          <p:cNvSpPr/>
          <p:nvPr/>
        </p:nvSpPr>
        <p:spPr>
          <a:xfrm>
            <a:off x="6364224" y="3291840"/>
            <a:ext cx="2542032" cy="420624"/>
          </a:xfrm>
          <a:prstGeom prst="rect">
            <a:avLst/>
          </a:prstGeom>
          <a:noFill/>
          <a:ln/>
        </p:spPr>
        <p:txBody>
          <a:bodyPr wrap="square"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Open science</a:t>
            </a:r>
            <a:endParaRPr lang="en-US" sz="1350" dirty="0"/>
          </a:p>
        </p:txBody>
      </p:sp>
      <p:sp>
        <p:nvSpPr>
          <p:cNvPr id="17" name="Text 14"/>
          <p:cNvSpPr/>
          <p:nvPr/>
        </p:nvSpPr>
        <p:spPr>
          <a:xfrm>
            <a:off x="6364224" y="3730752"/>
            <a:ext cx="2542032" cy="621792"/>
          </a:xfrm>
          <a:prstGeom prst="rect">
            <a:avLst/>
          </a:prstGeom>
          <a:noFill/>
          <a:ln/>
        </p:spPr>
        <p:txBody>
          <a:bodyPr wrap="square" rtlCol="0" anchor="ctr"/>
          <a:lstStyle/>
          <a:p>
            <a:pPr marL="0" indent="0">
              <a:buNone/>
            </a:pPr>
            <a:r>
              <a:rPr lang="en-US" sz="1150" dirty="0">
                <a:solidFill>
                  <a:srgbClr val="5B7A8A"/>
                </a:solidFill>
                <a:latin typeface="Calibri" pitchFamily="34" charset="0"/>
                <a:ea typeface="Calibri" pitchFamily="34" charset="-122"/>
                <a:cs typeface="Calibri" pitchFamily="34" charset="-120"/>
              </a:rPr>
              <a:t>Open-source GIS is not just a practical choice. It is a commitment to open, verifiable, and accessible science.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914400" y="2926080"/>
            <a:ext cx="3657600" cy="3657600"/>
          </a:xfrm>
          <a:prstGeom prst="ellipse">
            <a:avLst/>
          </a:prstGeom>
          <a:solidFill>
            <a:srgbClr val="1C7293">
              <a:alpha val="25000"/>
            </a:srgbClr>
          </a:solidFill>
          <a:ln w="12700">
            <a:solidFill>
              <a:srgbClr val="1C7293"/>
            </a:solidFill>
            <a:prstDash val="solid"/>
          </a:ln>
        </p:spPr>
        <p:txBody>
          <a:bodyPr/>
          <a:lstStyle/>
          <a:p>
            <a:endParaRPr lang="en-GB"/>
          </a:p>
        </p:txBody>
      </p:sp>
      <p:sp>
        <p:nvSpPr>
          <p:cNvPr id="3" name="Shape 1"/>
          <p:cNvSpPr/>
          <p:nvPr/>
        </p:nvSpPr>
        <p:spPr>
          <a:xfrm>
            <a:off x="7498080" y="-1097280"/>
            <a:ext cx="3200400" cy="3200400"/>
          </a:xfrm>
          <a:prstGeom prst="ellipse">
            <a:avLst/>
          </a:prstGeom>
          <a:solidFill>
            <a:srgbClr val="02C39A">
              <a:alpha val="20000"/>
            </a:srgbClr>
          </a:solidFill>
          <a:ln w="12700">
            <a:solidFill>
              <a:srgbClr val="02C39A"/>
            </a:solidFill>
            <a:prstDash val="solid"/>
          </a:ln>
        </p:spPr>
        <p:txBody>
          <a:bodyPr/>
          <a:lstStyle/>
          <a:p>
            <a:endParaRPr lang="en-GB"/>
          </a:p>
        </p:txBody>
      </p:sp>
      <p:sp>
        <p:nvSpPr>
          <p:cNvPr id="4" name="Text 2"/>
          <p:cNvSpPr/>
          <p:nvPr/>
        </p:nvSpPr>
        <p:spPr>
          <a:xfrm>
            <a:off x="457200" y="228600"/>
            <a:ext cx="8229600" cy="566928"/>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Conclusions</a:t>
            </a:r>
            <a:endParaRPr lang="en-US" sz="3400" dirty="0"/>
          </a:p>
        </p:txBody>
      </p:sp>
      <p:sp>
        <p:nvSpPr>
          <p:cNvPr id="5" name="Shape 3"/>
          <p:cNvSpPr/>
          <p:nvPr/>
        </p:nvSpPr>
        <p:spPr>
          <a:xfrm>
            <a:off x="365760" y="1069848"/>
            <a:ext cx="566928" cy="566928"/>
          </a:xfrm>
          <a:prstGeom prst="ellipse">
            <a:avLst/>
          </a:prstGeom>
          <a:solidFill>
            <a:srgbClr val="02C39A"/>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438912" y="1143000"/>
            <a:ext cx="420624" cy="420624"/>
          </a:xfrm>
          <a:prstGeom prst="rect">
            <a:avLst/>
          </a:prstGeom>
        </p:spPr>
      </p:pic>
      <p:sp>
        <p:nvSpPr>
          <p:cNvPr id="7" name="Text 4"/>
          <p:cNvSpPr/>
          <p:nvPr/>
        </p:nvSpPr>
        <p:spPr>
          <a:xfrm>
            <a:off x="1115568" y="1051560"/>
            <a:ext cx="7589520" cy="6858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Environmental monitoring tells us what is happening.</a:t>
            </a:r>
            <a:endParaRPr lang="en-US" sz="1450" dirty="0"/>
          </a:p>
        </p:txBody>
      </p:sp>
      <p:sp>
        <p:nvSpPr>
          <p:cNvPr id="8" name="Shape 5"/>
          <p:cNvSpPr/>
          <p:nvPr/>
        </p:nvSpPr>
        <p:spPr>
          <a:xfrm>
            <a:off x="365760" y="2011680"/>
            <a:ext cx="566928" cy="566928"/>
          </a:xfrm>
          <a:prstGeom prst="ellipse">
            <a:avLst/>
          </a:prstGeom>
          <a:solidFill>
            <a:srgbClr val="F0A500"/>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438912" y="2084832"/>
            <a:ext cx="420624" cy="420624"/>
          </a:xfrm>
          <a:prstGeom prst="rect">
            <a:avLst/>
          </a:prstGeom>
        </p:spPr>
      </p:pic>
      <p:sp>
        <p:nvSpPr>
          <p:cNvPr id="10" name="Text 6"/>
          <p:cNvSpPr/>
          <p:nvPr/>
        </p:nvSpPr>
        <p:spPr>
          <a:xfrm>
            <a:off x="1115568" y="1993392"/>
            <a:ext cx="7589520" cy="6858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Spatial analysis tells us where it matters.</a:t>
            </a:r>
            <a:endParaRPr lang="en-US" sz="1450" dirty="0"/>
          </a:p>
        </p:txBody>
      </p:sp>
      <p:sp>
        <p:nvSpPr>
          <p:cNvPr id="11" name="Shape 7"/>
          <p:cNvSpPr/>
          <p:nvPr/>
        </p:nvSpPr>
        <p:spPr>
          <a:xfrm>
            <a:off x="365760" y="2953512"/>
            <a:ext cx="566928" cy="566928"/>
          </a:xfrm>
          <a:prstGeom prst="ellipse">
            <a:avLst/>
          </a:prstGeom>
          <a:solidFill>
            <a:srgbClr val="1C7293"/>
          </a:solidFill>
          <a:ln/>
        </p:spPr>
        <p:txBody>
          <a:bodyPr/>
          <a:lstStyle/>
          <a:p>
            <a:endParaRPr lang="en-GB"/>
          </a:p>
        </p:txBody>
      </p:sp>
      <p:pic>
        <p:nvPicPr>
          <p:cNvPr id="12" name="Image 2" descr="preencoded.png"/>
          <p:cNvPicPr>
            <a:picLocks noChangeAspect="1"/>
          </p:cNvPicPr>
          <p:nvPr/>
        </p:nvPicPr>
        <p:blipFill>
          <a:blip r:embed="rId5"/>
          <a:stretch>
            <a:fillRect/>
          </a:stretch>
        </p:blipFill>
        <p:spPr>
          <a:xfrm>
            <a:off x="438912" y="3026664"/>
            <a:ext cx="420624" cy="420624"/>
          </a:xfrm>
          <a:prstGeom prst="rect">
            <a:avLst/>
          </a:prstGeom>
        </p:spPr>
      </p:pic>
      <p:sp>
        <p:nvSpPr>
          <p:cNvPr id="13" name="Text 8"/>
          <p:cNvSpPr/>
          <p:nvPr/>
        </p:nvSpPr>
        <p:spPr>
          <a:xfrm>
            <a:off x="1115568" y="2935224"/>
            <a:ext cx="7589520" cy="6858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And when we combine the two, we move beyond reporting environmental problems and begin to understand their spatial structure.</a:t>
            </a:r>
            <a:endParaRPr lang="en-US" sz="1450" dirty="0"/>
          </a:p>
        </p:txBody>
      </p:sp>
      <p:sp>
        <p:nvSpPr>
          <p:cNvPr id="14" name="Shape 9"/>
          <p:cNvSpPr/>
          <p:nvPr/>
        </p:nvSpPr>
        <p:spPr>
          <a:xfrm>
            <a:off x="365760" y="3895344"/>
            <a:ext cx="566928" cy="566928"/>
          </a:xfrm>
          <a:prstGeom prst="ellipse">
            <a:avLst/>
          </a:prstGeom>
          <a:solidFill>
            <a:srgbClr val="02C39A"/>
          </a:solidFill>
          <a:ln/>
        </p:spPr>
        <p:txBody>
          <a:bodyPr/>
          <a:lstStyle/>
          <a:p>
            <a:endParaRPr lang="en-GB"/>
          </a:p>
        </p:txBody>
      </p:sp>
      <p:pic>
        <p:nvPicPr>
          <p:cNvPr id="15" name="Image 3" descr="preencoded.png"/>
          <p:cNvPicPr>
            <a:picLocks noChangeAspect="1"/>
          </p:cNvPicPr>
          <p:nvPr/>
        </p:nvPicPr>
        <p:blipFill>
          <a:blip r:embed="rId6"/>
          <a:stretch>
            <a:fillRect/>
          </a:stretch>
        </p:blipFill>
        <p:spPr>
          <a:xfrm>
            <a:off x="438912" y="3968496"/>
            <a:ext cx="420624" cy="420624"/>
          </a:xfrm>
          <a:prstGeom prst="rect">
            <a:avLst/>
          </a:prstGeom>
        </p:spPr>
      </p:pic>
      <p:sp>
        <p:nvSpPr>
          <p:cNvPr id="16" name="Text 10"/>
          <p:cNvSpPr/>
          <p:nvPr/>
        </p:nvSpPr>
        <p:spPr>
          <a:xfrm>
            <a:off x="1115568" y="3877056"/>
            <a:ext cx="7589520" cy="6858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That understanding is essential for effective environmental management. And that, ultimately, is the value of GIS.</a:t>
            </a:r>
            <a:endParaRPr lang="en-US" sz="1450" dirty="0"/>
          </a:p>
        </p:txBody>
      </p:sp>
      <p:sp>
        <p:nvSpPr>
          <p:cNvPr id="17" name="Shape 11"/>
          <p:cNvSpPr/>
          <p:nvPr/>
        </p:nvSpPr>
        <p:spPr>
          <a:xfrm>
            <a:off x="0" y="4681728"/>
            <a:ext cx="9144000" cy="466344"/>
          </a:xfrm>
          <a:prstGeom prst="rect">
            <a:avLst/>
          </a:prstGeom>
          <a:solidFill>
            <a:srgbClr val="1C7293"/>
          </a:solidFill>
          <a:ln/>
        </p:spPr>
        <p:txBody>
          <a:bodyPr/>
          <a:lstStyle/>
          <a:p>
            <a:endParaRPr lang="en-GB"/>
          </a:p>
        </p:txBody>
      </p:sp>
      <p:sp>
        <p:nvSpPr>
          <p:cNvPr id="18" name="Text 12"/>
          <p:cNvSpPr/>
          <p:nvPr/>
        </p:nvSpPr>
        <p:spPr>
          <a:xfrm>
            <a:off x="0" y="4681728"/>
            <a:ext cx="9144000" cy="466344"/>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Thank you  —  Questions welcome</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7834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TotalTime>
  <Words>3437</Words>
  <Application>Microsoft Office PowerPoint</Application>
  <PresentationFormat>On-screen Show (16:9)</PresentationFormat>
  <Paragraphs>234</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Risk Assessment of Heavy Metal Pollution in Serbian Surface Waters</dc:title>
  <dc:subject>PptxGenJS Presentation</dc:subject>
  <dc:creator>PptxGenJS</dc:creator>
  <cp:lastModifiedBy>jekili</cp:lastModifiedBy>
  <cp:revision>9</cp:revision>
  <dcterms:created xsi:type="dcterms:W3CDTF">2026-06-24T15:24:47Z</dcterms:created>
  <dcterms:modified xsi:type="dcterms:W3CDTF">2026-06-27T14:13:19Z</dcterms:modified>
</cp:coreProperties>
</file>